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76e47adc6f4cd7" /><Relationship Type="http://schemas.openxmlformats.org/officeDocument/2006/relationships/extended-properties" Target="/docProps/app.xml" Id="Rdffb66ef8b6a45d1" /><Relationship Type="http://schemas.openxmlformats.org/officeDocument/2006/relationships/officeDocument" Target="/ppt/presentation.xml" Id="R42f3bb28221d4c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b94188442e4504"/>
  </p:sldMasterIdLst>
  <p:notesMasterIdLst>
    <p:notesMasterId xmlns:r="http://schemas.openxmlformats.org/officeDocument/2006/relationships" r:id="R30f7b19309df4c69"/>
  </p:notesMasterIdLst>
  <p:sldIdLst>
    <p:sldId xmlns:r="http://schemas.openxmlformats.org/officeDocument/2006/relationships" id="256" r:id="Rac3f2ddc0ec04c20"/>
    <p:sldId xmlns:r="http://schemas.openxmlformats.org/officeDocument/2006/relationships" id="257" r:id="R71f37a1e93c74039"/>
    <p:sldId xmlns:r="http://schemas.openxmlformats.org/officeDocument/2006/relationships" id="258" r:id="Rea22227d6f404f23"/>
    <p:sldId xmlns:r="http://schemas.openxmlformats.org/officeDocument/2006/relationships" id="259" r:id="Rcc5399de88f14310"/>
    <p:sldId xmlns:r="http://schemas.openxmlformats.org/officeDocument/2006/relationships" id="260" r:id="Rdfdbeefe6ca9454a"/>
    <p:sldId xmlns:r="http://schemas.openxmlformats.org/officeDocument/2006/relationships" id="261" r:id="Rd2e426da3cd04966"/>
    <p:sldId xmlns:r="http://schemas.openxmlformats.org/officeDocument/2006/relationships" id="262" r:id="R92468fdd0d414709"/>
    <p:sldId xmlns:r="http://schemas.openxmlformats.org/officeDocument/2006/relationships" id="263" r:id="Rc9c8acffcaf04051"/>
    <p:sldId xmlns:r="http://schemas.openxmlformats.org/officeDocument/2006/relationships" id="264" r:id="R3f637ea2e4fa42aa"/>
    <p:sldId xmlns:r="http://schemas.openxmlformats.org/officeDocument/2006/relationships" id="265" r:id="R262d2c68c38742a8"/>
    <p:sldId xmlns:r="http://schemas.openxmlformats.org/officeDocument/2006/relationships" id="266" r:id="Rbc669397530340e7"/>
    <p:sldId xmlns:r="http://schemas.openxmlformats.org/officeDocument/2006/relationships" id="267" r:id="R118c029447664fa4"/>
    <p:sldId xmlns:r="http://schemas.openxmlformats.org/officeDocument/2006/relationships" id="268" r:id="R75346c2906b54d65"/>
    <p:sldId xmlns:r="http://schemas.openxmlformats.org/officeDocument/2006/relationships" id="269" r:id="Rb54dc064dde64d76"/>
    <p:sldId xmlns:r="http://schemas.openxmlformats.org/officeDocument/2006/relationships" id="270" r:id="R53304c8e93574971"/>
    <p:sldId xmlns:r="http://schemas.openxmlformats.org/officeDocument/2006/relationships" id="271" r:id="R119a0e4f27d74c13"/>
    <p:sldId xmlns:r="http://schemas.openxmlformats.org/officeDocument/2006/relationships" id="272" r:id="R143f6256d0b84d87"/>
    <p:sldId xmlns:r="http://schemas.openxmlformats.org/officeDocument/2006/relationships" id="273" r:id="R0862556cac3b4c35"/>
    <p:sldId xmlns:r="http://schemas.openxmlformats.org/officeDocument/2006/relationships" id="274" r:id="R37de1e424ca04da1"/>
    <p:sldId xmlns:r="http://schemas.openxmlformats.org/officeDocument/2006/relationships" id="275" r:id="Re97080f8398e4924"/>
    <p:sldId xmlns:r="http://schemas.openxmlformats.org/officeDocument/2006/relationships" id="276" r:id="R48e4e82a37b342ff"/>
    <p:sldId xmlns:r="http://schemas.openxmlformats.org/officeDocument/2006/relationships" id="277" r:id="R75dac566f3b247ea"/>
    <p:sldId xmlns:r="http://schemas.openxmlformats.org/officeDocument/2006/relationships" id="278" r:id="Rc406104618084e67"/>
    <p:sldId xmlns:r="http://schemas.openxmlformats.org/officeDocument/2006/relationships" id="279" r:id="R07c8ac3f271546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eb4324153941a9" /><Relationship Type="http://schemas.openxmlformats.org/officeDocument/2006/relationships/slideMaster" Target="/ppt/slideMasters/slideMaster1.xml" Id="Ra8b94188442e4504" /><Relationship Type="http://schemas.openxmlformats.org/officeDocument/2006/relationships/notesMaster" Target="/ppt/notesMasters/notesMaster1.xml" Id="R30f7b19309df4c69" /><Relationship Type="http://schemas.openxmlformats.org/officeDocument/2006/relationships/presProps" Target="/ppt/presProps.xml" Id="R6d1d8b610f0c4c7e" /><Relationship Type="http://schemas.openxmlformats.org/officeDocument/2006/relationships/tableStyles" Target="/ppt/tableStyles.xml" Id="R37f9eab1a7554471" /><Relationship Type="http://schemas.openxmlformats.org/officeDocument/2006/relationships/slide" Target="/ppt/slides/slide1.xml" Id="Rac3f2ddc0ec04c20" /><Relationship Type="http://schemas.openxmlformats.org/officeDocument/2006/relationships/slide" Target="/ppt/slides/slide2.xml" Id="R71f37a1e93c74039" /><Relationship Type="http://schemas.openxmlformats.org/officeDocument/2006/relationships/slide" Target="/ppt/slides/slide3.xml" Id="Rea22227d6f404f23" /><Relationship Type="http://schemas.openxmlformats.org/officeDocument/2006/relationships/slide" Target="/ppt/slides/slide4.xml" Id="Rcc5399de88f14310" /><Relationship Type="http://schemas.openxmlformats.org/officeDocument/2006/relationships/slide" Target="/ppt/slides/slide5.xml" Id="Rdfdbeefe6ca9454a" /><Relationship Type="http://schemas.openxmlformats.org/officeDocument/2006/relationships/slide" Target="/ppt/slides/slide6.xml" Id="Rd2e426da3cd04966" /><Relationship Type="http://schemas.openxmlformats.org/officeDocument/2006/relationships/slide" Target="/ppt/slides/slide7.xml" Id="R92468fdd0d414709" /><Relationship Type="http://schemas.openxmlformats.org/officeDocument/2006/relationships/slide" Target="/ppt/slides/slide8.xml" Id="Rc9c8acffcaf04051" /><Relationship Type="http://schemas.openxmlformats.org/officeDocument/2006/relationships/slide" Target="/ppt/slides/slide9.xml" Id="R3f637ea2e4fa42aa" /><Relationship Type="http://schemas.openxmlformats.org/officeDocument/2006/relationships/slide" Target="/ppt/slides/slide10.xml" Id="R262d2c68c38742a8" /><Relationship Type="http://schemas.openxmlformats.org/officeDocument/2006/relationships/slide" Target="/ppt/slides/slide11.xml" Id="Rbc669397530340e7" /><Relationship Type="http://schemas.openxmlformats.org/officeDocument/2006/relationships/slide" Target="/ppt/slides/slide12.xml" Id="R118c029447664fa4" /><Relationship Type="http://schemas.openxmlformats.org/officeDocument/2006/relationships/slide" Target="/ppt/slides/slide13.xml" Id="R75346c2906b54d65" /><Relationship Type="http://schemas.openxmlformats.org/officeDocument/2006/relationships/slide" Target="/ppt/slides/slide14.xml" Id="Rb54dc064dde64d76" /><Relationship Type="http://schemas.openxmlformats.org/officeDocument/2006/relationships/slide" Target="/ppt/slides/slide15.xml" Id="R53304c8e93574971" /><Relationship Type="http://schemas.openxmlformats.org/officeDocument/2006/relationships/slide" Target="/ppt/slides/slide16.xml" Id="R119a0e4f27d74c13" /><Relationship Type="http://schemas.openxmlformats.org/officeDocument/2006/relationships/slide" Target="/ppt/slides/slide17.xml" Id="R143f6256d0b84d87" /><Relationship Type="http://schemas.openxmlformats.org/officeDocument/2006/relationships/slide" Target="/ppt/slides/slide18.xml" Id="R0862556cac3b4c35" /><Relationship Type="http://schemas.openxmlformats.org/officeDocument/2006/relationships/slide" Target="/ppt/slides/slide19.xml" Id="R37de1e424ca04da1" /><Relationship Type="http://schemas.openxmlformats.org/officeDocument/2006/relationships/slide" Target="/ppt/slides/slide20.xml" Id="Re97080f8398e4924" /><Relationship Type="http://schemas.openxmlformats.org/officeDocument/2006/relationships/slide" Target="/ppt/slides/slide21.xml" Id="R48e4e82a37b342ff" /><Relationship Type="http://schemas.openxmlformats.org/officeDocument/2006/relationships/slide" Target="/ppt/slides/slide22.xml" Id="R75dac566f3b247ea" /><Relationship Type="http://schemas.openxmlformats.org/officeDocument/2006/relationships/slide" Target="/ppt/slides/slide23.xml" Id="Rc406104618084e67" /><Relationship Type="http://schemas.openxmlformats.org/officeDocument/2006/relationships/slide" Target="/ppt/slides/slide24.xml" Id="R07c8ac3f2715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8ad5fc16e343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ef607cd2c4060" /><Relationship Type="http://schemas.openxmlformats.org/officeDocument/2006/relationships/notesMaster" Target="/ppt/notesMasters/notesMaster1.xml" Id="R823b15d03c0e42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0e4c9847d4394" /><Relationship Type="http://schemas.openxmlformats.org/officeDocument/2006/relationships/notesMaster" Target="/ppt/notesMasters/notesMaster1.xml" Id="R8c7f5921d77d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171fa65d324d14" /><Relationship Type="http://schemas.openxmlformats.org/officeDocument/2006/relationships/notesMaster" Target="/ppt/notesMasters/notesMaster1.xml" Id="R81cced23f67b4a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2a63e359847d1" /><Relationship Type="http://schemas.openxmlformats.org/officeDocument/2006/relationships/notesMaster" Target="/ppt/notesMasters/notesMaster1.xml" Id="R9fc29eb8fb554b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686fa1b3d44d7c" /><Relationship Type="http://schemas.openxmlformats.org/officeDocument/2006/relationships/notesMaster" Target="/ppt/notesMasters/notesMaster1.xml" Id="Ra63f3a4fc4184f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d117a45ea6473a" /><Relationship Type="http://schemas.openxmlformats.org/officeDocument/2006/relationships/notesMaster" Target="/ppt/notesMasters/notesMaster1.xml" Id="Rf83decfa9a5e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60f3cb94eb4060" /><Relationship Type="http://schemas.openxmlformats.org/officeDocument/2006/relationships/notesMaster" Target="/ppt/notesMasters/notesMaster1.xml" Id="R9eda0673a84e4a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2fb67a65ce446d" /><Relationship Type="http://schemas.openxmlformats.org/officeDocument/2006/relationships/notesMaster" Target="/ppt/notesMasters/notesMaster1.xml" Id="Rccba5e71471845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e5eb129df14bd4" /><Relationship Type="http://schemas.openxmlformats.org/officeDocument/2006/relationships/notesMaster" Target="/ppt/notesMasters/notesMaster1.xml" Id="Rb2b7c5da3a1c49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ce08f08ce540c7" /><Relationship Type="http://schemas.openxmlformats.org/officeDocument/2006/relationships/notesMaster" Target="/ppt/notesMasters/notesMaster1.xml" Id="Rec769452c75b45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4874917b734858" /><Relationship Type="http://schemas.openxmlformats.org/officeDocument/2006/relationships/notesMaster" Target="/ppt/notesMasters/notesMaster1.xml" Id="Rca485ef16ae048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470efeb03c4972" /><Relationship Type="http://schemas.openxmlformats.org/officeDocument/2006/relationships/notesMaster" Target="/ppt/notesMasters/notesMaster1.xml" Id="R7af62132719a4f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a663dac4f94ddd" /><Relationship Type="http://schemas.openxmlformats.org/officeDocument/2006/relationships/notesMaster" Target="/ppt/notesMasters/notesMaster1.xml" Id="R53b79156c44045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facbfd82c64622" /><Relationship Type="http://schemas.openxmlformats.org/officeDocument/2006/relationships/notesMaster" Target="/ppt/notesMasters/notesMaster1.xml" Id="Rddff1258f72640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e51722df6c4e2d" /><Relationship Type="http://schemas.openxmlformats.org/officeDocument/2006/relationships/notesMaster" Target="/ppt/notesMasters/notesMaster1.xml" Id="Rae087fd7b87f46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24ab4beeff45e5" /><Relationship Type="http://schemas.openxmlformats.org/officeDocument/2006/relationships/notesMaster" Target="/ppt/notesMasters/notesMaster1.xml" Id="Rc6385b0a32ac49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c4ccd87e3e462d" /><Relationship Type="http://schemas.openxmlformats.org/officeDocument/2006/relationships/notesMaster" Target="/ppt/notesMasters/notesMaster1.xml" Id="R6e301f8f555e45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09a8b403b3401c" /><Relationship Type="http://schemas.openxmlformats.org/officeDocument/2006/relationships/notesMaster" Target="/ppt/notesMasters/notesMaster1.xml" Id="R6e36765901f04a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c74df688294e89" /><Relationship Type="http://schemas.openxmlformats.org/officeDocument/2006/relationships/notesMaster" Target="/ppt/notesMasters/notesMaster1.xml" Id="R1536ab1897494f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1e36bd041a4d86" /><Relationship Type="http://schemas.openxmlformats.org/officeDocument/2006/relationships/notesMaster" Target="/ppt/notesMasters/notesMaster1.xml" Id="Rfe7d7c1d869a44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82f847e67b4757" /><Relationship Type="http://schemas.openxmlformats.org/officeDocument/2006/relationships/notesMaster" Target="/ppt/notesMasters/notesMaster1.xml" Id="R76da59ba324c47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036b5050284369" /><Relationship Type="http://schemas.openxmlformats.org/officeDocument/2006/relationships/notesMaster" Target="/ppt/notesMasters/notesMaster1.xml" Id="Rff8faba3b59742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9fe27f06374f0f" /><Relationship Type="http://schemas.openxmlformats.org/officeDocument/2006/relationships/notesMaster" Target="/ppt/notesMasters/notesMaster1.xml" Id="R83e9a43534a44b1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9b461e06a5d46a7" /><Relationship Type="http://schemas.openxmlformats.org/officeDocument/2006/relationships/notesMaster" Target="/ppt/notesMasters/notesMaster1.xml" Id="Rf3ec48bebf9e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講座のゴールを先に伝える。用語テストではなく、実際の仕事で迷わず操作できることが目的。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deck: VEXUM学園_ITリテラシー基礎講座_IMAGE2版_30ページ.pptx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挙手または口頭で、経験したことがある項目を確認。受講者の不安を『よくあること』として扱う。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講座全体の見取り図。各章が最後の実践課題のどこにつながるか、都度戻って説明する。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比喩だけで終わらず、症状と結びつける。CPU=処理、メモリ=開いている作業、保存容量=閉じても残るデータ。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WindowsやmacOS自体を『アプリ』だと思っている受講者を想定。再起動や不具合相談時に、どこで起きているか説明できる状態を目指す。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ブラウザ、検索エンジン、検索欄を混同しないよう、実際の画面を見せながら説明する。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C/V/Z/A/S/Xの6つを講座中に繰り返し使用して定着させる。切り取りは、元の場所から内容が移動する点を説明する。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受講者自身に操作させる。できたか確認してから次へ。切り取りはこの練習の後に追加説明する。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実際のファイル管理画面を開き、『入れ物』と『中身』を指し示す。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拡張子は『種類を示す末尾』として説明。表示されない設定もあるため、勝手に書き換えないことを優先する。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操作後の結果を声に出して確認させる。特に移動は、元の場所から見えなくなる点を強調する。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保存、名前を付けて保存、PDF出力を、コマンド名ではなく用途で選択させる。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『アプリかブラウザか』と『ローカルかクラウドか』は別の軸。保存先表示を確認する習慣をつける。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言葉の暗記ではなく、ファイルの移動方向を指で示して説明する。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同期サービスのごみ箱・履歴の存在は環境によって違う。会社の正式な保存ルールに従うよう補足する。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実際のプロフィールアイコンから、メールアドレスや組織名を確認する場所を示す。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会社の情報管理ルールとして2段階認証を必須と説明する。認証コードを聞く連絡にも応じない。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社内情報管理ルール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製品名を暗記するのではなく、目的→指定されたツールの順で判断させる。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共有リンクはURLを送れば終わりではない。相手のアカウントで開ける権限かを確認する。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AIはもっともらしい誤りを出すことがある。業務情報は指定環境のみで扱い、個人AIへ入力しない。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社内情報管理ルール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フィッシングを見抜く完璧さより、クリック前に止まる習慣を重視する。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トラブル時の安全な行動順。いきなり何度もクリックしたり、未保存のまま強制終了したりしない。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評価は用語の説明ではなく、6つの操作を一人で完了できるかで行う。途中で詰まった場合は、どの段階かを言葉にしてもらう。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社内情報管理ルール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最後に3つの問いを復唱し、実務で迷ったときの共通言語として持ち帰ってもらう。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67cfbc4294a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ed87117c754e83" /><Relationship Type="http://schemas.openxmlformats.org/officeDocument/2006/relationships/slideLayout" Target="/ppt/slideLayouts/slideLayout1.xml" Id="R772c5065fd3a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2c5065fd3a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48d535f341a7" /><Relationship Type="http://schemas.openxmlformats.org/officeDocument/2006/relationships/notesSlide" Target="/ppt/notesSlides/notesSlide1.xml" Id="R05f96effa550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d49fba63d4d11" /><Relationship Type="http://schemas.openxmlformats.org/officeDocument/2006/relationships/notesSlide" Target="/ppt/notesSlides/notesSlide2.xml" Id="R48e5af4d1b3f4f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33a134d434ca6" /><Relationship Type="http://schemas.openxmlformats.org/officeDocument/2006/relationships/notesSlide" Target="/ppt/notesSlides/notesSlide3.xml" Id="R42aaea5d0729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d5eb9c10f47c8" /><Relationship Type="http://schemas.openxmlformats.org/officeDocument/2006/relationships/notesSlide" Target="/ppt/notesSlides/notesSlide4.xml" Id="Rda216bccc9b642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1c304650f440a" /><Relationship Type="http://schemas.openxmlformats.org/officeDocument/2006/relationships/notesSlide" Target="/ppt/notesSlides/notesSlide5.xml" Id="R5cb1da472a6248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5a448b6c34534" /><Relationship Type="http://schemas.openxmlformats.org/officeDocument/2006/relationships/notesSlide" Target="/ppt/notesSlides/notesSlide6.xml" Id="R84eb84cbf48f4d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9140a849b49a0" /><Relationship Type="http://schemas.openxmlformats.org/officeDocument/2006/relationships/notesSlide" Target="/ppt/notesSlides/notesSlide7.xml" Id="Re68c97a30170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fecccc17a4cc7" /><Relationship Type="http://schemas.openxmlformats.org/officeDocument/2006/relationships/notesSlide" Target="/ppt/notesSlides/notesSlide8.xml" Id="R5ca2fcab3b144e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778fae2eb4959" /><Relationship Type="http://schemas.openxmlformats.org/officeDocument/2006/relationships/notesSlide" Target="/ppt/notesSlides/notesSlide9.xml" Id="R1c6e20ed8d7f42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f416efe1c478e" /><Relationship Type="http://schemas.openxmlformats.org/officeDocument/2006/relationships/notesSlide" Target="/ppt/notesSlides/notesSlide10.xml" Id="R3ddb10accd3e4f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c13b306af45eb" /><Relationship Type="http://schemas.openxmlformats.org/officeDocument/2006/relationships/notesSlide" Target="/ppt/notesSlides/notesSlide11.xml" Id="Rfa6ba523952142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9e9deccf04d52" /><Relationship Type="http://schemas.openxmlformats.org/officeDocument/2006/relationships/notesSlide" Target="/ppt/notesSlides/notesSlide12.xml" Id="R6ac01b5dd2204f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7d62ded1c4f43" /><Relationship Type="http://schemas.openxmlformats.org/officeDocument/2006/relationships/notesSlide" Target="/ppt/notesSlides/notesSlide13.xml" Id="Rd8a152fbddc340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fdad54dde4b82" /><Relationship Type="http://schemas.openxmlformats.org/officeDocument/2006/relationships/notesSlide" Target="/ppt/notesSlides/notesSlide14.xml" Id="R44a3f1209b5f4b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ecb1838074a52" /><Relationship Type="http://schemas.openxmlformats.org/officeDocument/2006/relationships/notesSlide" Target="/ppt/notesSlides/notesSlide15.xml" Id="R3dfeb7216ec24b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3a1c691974973" /><Relationship Type="http://schemas.openxmlformats.org/officeDocument/2006/relationships/notesSlide" Target="/ppt/notesSlides/notesSlide16.xml" Id="R8310b463f25e42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02e49f0e54536" /><Relationship Type="http://schemas.openxmlformats.org/officeDocument/2006/relationships/notesSlide" Target="/ppt/notesSlides/notesSlide17.xml" Id="Raaae86b762534b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1df5e4c574a70" /><Relationship Type="http://schemas.openxmlformats.org/officeDocument/2006/relationships/notesSlide" Target="/ppt/notesSlides/notesSlide18.xml" Id="R2bff7034de064b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0ac85744846b5" /><Relationship Type="http://schemas.openxmlformats.org/officeDocument/2006/relationships/notesSlide" Target="/ppt/notesSlides/notesSlide19.xml" Id="R79d9a8ca76bf4d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c2fae847f4e94" /><Relationship Type="http://schemas.openxmlformats.org/officeDocument/2006/relationships/notesSlide" Target="/ppt/notesSlides/notesSlide20.xml" Id="Rc57ed8bf127348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ca1cf579240bf" /><Relationship Type="http://schemas.openxmlformats.org/officeDocument/2006/relationships/notesSlide" Target="/ppt/notesSlides/notesSlide21.xml" Id="R4c6f2bc3cef44a5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22f310ed54b76" /><Relationship Type="http://schemas.openxmlformats.org/officeDocument/2006/relationships/notesSlide" Target="/ppt/notesSlides/notesSlide22.xml" Id="Rff545a6e917740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57f8c958f4338" /><Relationship Type="http://schemas.openxmlformats.org/officeDocument/2006/relationships/notesSlide" Target="/ppt/notesSlides/notesSlide23.xml" Id="Rd4db97ed7eb447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0a01f27594f1e" /><Relationship Type="http://schemas.openxmlformats.org/officeDocument/2006/relationships/notesSlide" Target="/ppt/notesSlides/notesSlide24.xml" Id="R98a74b4402584d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F03F5-9CB4-43A2-9873-3A3E1468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90324-C892-4565-A656-86EFEC96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VEXUM学園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AC015-9732-4286-8512-573856F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72390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ITリテラシー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基礎講座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6D149-0DF0-4B43-BE00-3C5B5D55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業務で使用する基本的なIT操作を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理解し、実行できる状態を目指す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105B5-B6EB-4E81-BDC5-4B1CEF9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57300"/>
            <a:ext cx="22860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FDC43-665A-42E5-A9C0-A7CE222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研修目的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53212-B023-4C30-A7CA-BAA4433F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基本操作の習得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63BB7-0C2B-491A-8E05-A54A3C21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VEXUM学園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47FBC-E627-46FB-8492-EE34F70A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0695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40008-97F4-427A-8515-C5FA9ED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07613-A164-4B09-9383-09D1B4C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研修概要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A2794-C421-4D8C-AC41-611B7EC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業務で発生しやすい操作上の問題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8FA0D-831D-4FD3-B629-86421AF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6D23A-8726-4AB2-AF02-A1E9B88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2F81A-5F27-4A37-AB13-A9FA7EBA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44182-C4BA-44F2-942E-43209573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71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FB1F8-5A86-4C61-BF31-2E12653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保存場所を特定できない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FA35-5E57-4EEA-96DF-7BE8A65A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保存場所となるフォルダを把握していない。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834EF-2A71-4595-A419-F0BD6463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9750"/>
            <a:ext cx="3371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B8665-DC60-40F2-AD5D-05A7E692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19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共有先で開けない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CF288-A94B-4349-9419-53D2C1EC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955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ファイル形式または共有権限が適切でない。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ABFF4-8381-4E2B-A42F-CB2A7A40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71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1655C-6A84-4FDB-827F-E874672C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アカウントの取り違え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A0EB1-6D26-4393-8C83-4EA273C2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会社用と個人用のアカウントを混同する。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B14F3-7BF6-452E-A0FF-3FBA6940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1125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C5165-B258-4ECB-9A03-53DC2A71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本講座では、基本操作の目的と手順を体系的に整理します。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5C329-7278-4543-8E56-B2C5CA75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対象範囲：ファイル管理、クラウド、アカウント、共有、安全対策</a:t>
            </a:r>
          </a:p>
        </p:txBody>
      </p:sp>
    </p:spTree>
    <p:extLst>
      <p:ext uri="{BB962C8B-B14F-4D97-AF65-F5344CB8AC3E}">
        <p14:creationId xmlns:p14="http://schemas.microsoft.com/office/powerpoint/2010/main" val="329837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66B081-506C-4C7E-9051-406D91C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0A530-C62E-4A2E-A300-7F155C5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到達目標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AB29D-9BB1-4E19-A83C-8467E58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本講座で習得する基本操作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9FF26-D04D-482C-85E6-B8398EBA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5FB9D-FBB0-4228-814F-0C25ADBB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EC570-ED1F-45A0-9BF3-A87D15C6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9C75B-B9F2-45F0-A584-75FF9E9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6002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3792E-0149-4E97-9418-39FFA27F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C37F9-3978-437D-A65C-29163E2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探す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05F6D-A05C-48E3-878E-9FD817C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必要なファイルを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見つける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4AEB8-D463-4EC4-9D67-EE133FDB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AF45D-FA2F-4BF1-ACFF-83AAA4C6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16002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F054F-6CF6-47B1-8B76-0275667E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C40F2-B546-4D9F-93FC-9C8117CE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編集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26B1-81B1-4EE8-8229-74422D8A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433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内容を変える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72B3F-9D61-4570-842F-11E1B38E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146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B50F4-98A2-4B0A-82D6-F606B6E0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24100"/>
            <a:ext cx="16002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0BF62-2AD2-45BB-AEE8-9209510A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146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62EEB-5130-455F-BA78-A77A98EB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B732E-2D42-4CA2-8E4E-E6A915E8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名前と場所を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決める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52382-063A-4F4A-AD16-4E10FF0F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EAC13-CA11-426C-8896-ED0F8103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24100"/>
            <a:ext cx="16002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155E3-3AB9-428F-89DE-CA6E612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74CEB-DD24-4C04-B212-3A3533B6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共有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0BD7D-0569-4BAB-A8C3-27AC9A5E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相手と権限を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選ぶ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B87A6-03A9-401E-9EBC-68BDFE6F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174C5-B78F-45E8-8495-39964D9C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6002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29533-06F6-4841-B18D-C888A954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98458-4637-4851-8CA1-9013C28E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確認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19B4F-5A9A-4DB9-8770-DABA1165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相手が開けるか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確かめる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CB7DF-0A0A-4FD6-86B3-C6B82377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以下の操作を、手順に沿って実行できる状態を目標とします。</a:t>
            </a:r>
          </a:p>
        </p:txBody>
      </p:sp>
    </p:spTree>
    <p:extLst>
      <p:ext uri="{BB962C8B-B14F-4D97-AF65-F5344CB8AC3E}">
        <p14:creationId xmlns:p14="http://schemas.microsoft.com/office/powerpoint/2010/main" val="631546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B2BA0-2AC5-45F7-AA15-0F06E32C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97D2B-5128-42E1-B377-584D20F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PCの基本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E922F-B189-4007-A79E-49297DF1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パソコンを構成する3つの主要要素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69821-FAFF-4D72-8A59-2CE68AC4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89AC3-504F-4713-BEB3-2597F7ED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467A5-AD63-47C9-AA69-D468A000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6C367-86C8-4C79-9FDA-8F196B95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33718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1102D-7F2C-4CCF-8914-08127F84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CE2E8-FD8C-47D7-B97A-F5C5529A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EDE53-387B-44B4-8D61-98F3C43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CPU｜処理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4C95A-378C-4679-9016-BE6BFBFF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914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クリックや計算など、指示を順番に処理する。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遅いと：処理待ちが増える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E8DBC-8169-4C4B-9BA8-E8F49B40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62150"/>
            <a:ext cx="33718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AC091-FCF6-486A-ACCA-7DC478D8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B5490-08EA-48A3-A87A-02C344B5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28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87116-F8BC-4FED-BF44-5FDAD44D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1717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メモリ｜一時記憶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92623-0E48-4156-B6D8-9BB1F8D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914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いま開いているアプリやデータを一時的に置く。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足りないと：動きが重くなる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2BEFF-EC3F-41C2-BD42-A383E8B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33718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F8667-FF58-47FE-854D-E1930BFE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85F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705B2-4CF5-4B3E-A9C6-267EBEE3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E96DC-AA57-498D-81B4-6FFB8D45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ストレージ｜保存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1AB0C-3921-4A59-BE58-51B4F1DD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914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ファイルを閉じても残しておく場所。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足りないと：保存できない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71D33-F0E8-4ACB-BC83-2B6AA3D3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1125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FFF4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017D3-D5C2-4B13-A4BF-C120B4E8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メモリとストレージ（保存容量）は役割が異なります。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1756720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BC014-9031-4BDE-8E76-227CC4C0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A42E-53C8-4672-BA0F-979134D8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PCの基本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77E86-9D8A-4C4C-87BF-FD8E9F78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OSとアプリケーションの役割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A3645-BD6D-4483-8939-3AFF0F7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B5912-3A89-460A-A618-B4D6F355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C8386-9C64-4C9D-8A49-C188B328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65AC7-1B8A-4A0D-8E93-4C9CF07B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1125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9D3C6-66A0-4784-ACF3-64069CE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2B7B5-00FB-4717-B1BE-7B439C27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02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パソコン全体を動かす土台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B8AFF-4728-417B-80FB-29F1722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Windows / macOS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33F2A-F186-4F59-AAE1-FFF1D0A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1125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FFE3D-297D-4C51-8D44-0744C7CE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rPr>
              <a:t>アプリ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63DA5-1E6F-4C38-9D82-9CE161C1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0450"/>
            <a:ext cx="26289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61889-9A80-4562-992C-BA1FFA35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文書を作る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3AD5F-6DD7-4431-AA5A-8480EB8A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Word / Googleドキュメント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9BCD5-830E-4419-BF6A-AA1DB09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00450"/>
            <a:ext cx="26289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9D130-9C65-40F6-9216-2B32E6A0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表を作る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28852-065A-43AE-8075-F795448E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Excel / Googleスプレッドシート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C1C6A-68F9-476C-B8CE-BA15878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3086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60DC8-AEB3-4D4A-82EB-4D8AB983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Webを見る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65855-0BB5-4B1B-A8B9-74A01D1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Chrome / Edge / Safari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9195C-2D47-4612-A3D3-7DE0A5F3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不具合発生時は、OSとアプリケーションのどちらに起因するかを確認します。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32848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7D12E-02B2-49FF-B849-9EE58619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0B50A-34FA-48C1-853E-357AA5C9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Webの基本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44FD5-AF3C-4DD8-B4B8-62DA169C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ブラウザ・検索・URLの違い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D8B62-FB52-4106-BC4E-5A126453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15298-4C52-42F5-9131-1D8ED9C5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615B1-6FAF-4879-88BF-672E4DDF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FDB07-D6F7-4DCF-8342-990119A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7BAB5-FFF1-4385-BEC5-879B9B62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1 ブラウザを開く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9E0E4-A931-4D45-AA45-8E96E040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Webを見るためのアプリ。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例：Chrome / Edge / Safari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33645-1977-464E-AE2B-13EA808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5334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C2CCB-5318-45D2-9792-3CF28F7B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24DA2-7F07-4948-B246-1A433F80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2 行き先を指定する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F5BCE-0030-4B03-BCF6-1A35CE33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URLが分かる → 上の欄に貼る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分からない → 検索語を入れる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31374-E610-44F5-9E47-CAD73FC4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5334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8D11F-2017-4BC0-92FA-02CA89F3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33147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ABE55-AF4D-473D-86CA-DE515CEF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3 ページを見る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18C91-124D-46D2-A16D-B194121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検索結果から選ぶか、URLのページへ直接移動する。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E2806-3A08-4CF9-A4CE-5180248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11252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FFF4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F7D7A-C90C-4AA1-A6E9-B207E613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URL：Webページの所在地　／　検索語：目的のページを探すための語句</a:t>
            </a:r>
          </a:p>
        </p:txBody>
      </p:sp>
    </p:spTree>
    <p:extLst>
      <p:ext uri="{BB962C8B-B14F-4D97-AF65-F5344CB8AC3E}">
        <p14:creationId xmlns:p14="http://schemas.microsoft.com/office/powerpoint/2010/main" val="7402243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55C82-AE21-437D-A081-45F808B2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BF23D-68D1-4016-9320-2C2983A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基本操作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29471-69D2-4DEB-9467-B9C628A6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使用頻度の高いショートカット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F0FE9-5C5F-4E28-ACA6-A0446961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C27D0-4302-41CB-84AA-5C8EBC21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F3A7B-9A73-434A-8755-BE01E7A2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1F87E-BCA3-483E-A1FF-0FC2725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71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756FD-42FE-490F-B052-DF1B8D04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コピー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25E05-8323-4F4D-83D9-D270FEC4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00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24656-0C33-49B5-83E6-0E5F18D1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47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Ctrl / ⌘ +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2AEE6-C3A6-491F-824C-31FF4CCB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元を残して複製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632A1-AA27-4589-9A21-8C3D933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9750"/>
            <a:ext cx="3371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83C36-5223-4B50-BD55-B96EDC90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193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貼り付け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8C7DE-08D0-4338-B068-9DB47785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00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882A0-3624-4CA3-BD09-88336BDB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47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Ctrl / ⌘ +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5EDD2-5DE3-42E4-915A-4DE9D27D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908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コピーした内容を置く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D6BE9-01BC-46DF-8636-55B521B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71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E97B8-AB0E-40EE-8288-D5FC807D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元に戻す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71F7B-AA4E-4971-9340-69D82ACD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779A2-8E7C-4BE0-9071-C10059CA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47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Ctrl / ⌘ + 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EA9CB-DEF2-4735-B764-4FEFD8B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直前の操作を取り消す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17B90-B1ED-44FB-B036-7997769D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3371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2EB06-58A4-41F9-88F4-8F29149E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全選択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1C093-01FA-4148-8B05-47B7334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100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8F1A2-91BA-4E60-B47C-039B256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57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Ctrl / ⌘ +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95576-8144-4CEF-8C27-77C2E17D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すべての文字や項目を選ぶ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CF78D-6BE1-43C2-901F-2B806224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Windowsは Ctrl、Macは ⌘（command）を使います。</a:t>
            </a:r>
          </a:p>
        </p:txBody>
      </p:sp>
      <p:sp>
        <p:nvSpPr>
          <p:cNvPr id="29" name="shortcut-save-background">
            <a:extLst xmlns:a="http://schemas.openxmlformats.org/drawingml/2006/main">
              <a:ext uri="{FF2B5EF4-FFF2-40B4-BE49-F238E27FC236}">
                <a16:creationId xmlns:a16="http://schemas.microsoft.com/office/drawing/2014/main" id="{CF230B4D-5B87-43D0-860B-8A92624F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19500"/>
            <a:ext cx="3371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30" name="shortcut-save-title">
            <a:extLst xmlns:a="http://schemas.openxmlformats.org/drawingml/2006/main">
              <a:ext uri="{FF2B5EF4-FFF2-40B4-BE49-F238E27FC236}">
                <a16:creationId xmlns:a16="http://schemas.microsoft.com/office/drawing/2014/main" id="{840BA0C3-215E-4E39-9F13-BF49212A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29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保存</a:t>
            </a:r>
          </a:p>
        </p:txBody>
      </p:sp>
      <p:sp>
        <p:nvSpPr>
          <p:cNvPr id="31" name="shortcut-save-key-background">
            <a:extLst xmlns:a="http://schemas.openxmlformats.org/drawingml/2006/main">
              <a:ext uri="{FF2B5EF4-FFF2-40B4-BE49-F238E27FC236}">
                <a16:creationId xmlns:a16="http://schemas.microsoft.com/office/drawing/2014/main" id="{1C67FFDE-8C83-4056-AC44-3782E002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10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shortcut-save-key">
            <a:extLst xmlns:a="http://schemas.openxmlformats.org/drawingml/2006/main">
              <a:ext uri="{FF2B5EF4-FFF2-40B4-BE49-F238E27FC236}">
                <a16:creationId xmlns:a16="http://schemas.microsoft.com/office/drawing/2014/main" id="{CA9D3058-181A-47B1-BFEB-850EEA3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Ctrl / ⌘ + S</a:t>
            </a:r>
          </a:p>
        </p:txBody>
      </p:sp>
      <p:sp>
        <p:nvSpPr>
          <p:cNvPr id="33" name="shortcut-save-description">
            <a:extLst xmlns:a="http://schemas.openxmlformats.org/drawingml/2006/main">
              <a:ext uri="{FF2B5EF4-FFF2-40B4-BE49-F238E27FC236}">
                <a16:creationId xmlns:a16="http://schemas.microsoft.com/office/drawing/2014/main" id="{6A7A05D8-25C4-4412-845F-C84BF69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編集内容を保存する</a:t>
            </a:r>
          </a:p>
        </p:txBody>
      </p:sp>
      <p:sp>
        <p:nvSpPr>
          <p:cNvPr id="34" name="shortcut-cut-background">
            <a:extLst xmlns:a="http://schemas.openxmlformats.org/drawingml/2006/main">
              <a:ext uri="{FF2B5EF4-FFF2-40B4-BE49-F238E27FC236}">
                <a16:creationId xmlns:a16="http://schemas.microsoft.com/office/drawing/2014/main" id="{29140AC1-CE65-48DB-896C-E9D2CB4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371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35" name="shortcut-cut-title">
            <a:extLst xmlns:a="http://schemas.openxmlformats.org/drawingml/2006/main">
              <a:ext uri="{FF2B5EF4-FFF2-40B4-BE49-F238E27FC236}">
                <a16:creationId xmlns:a16="http://schemas.microsoft.com/office/drawing/2014/main" id="{1C1380EE-DBB2-418D-AF72-B0E99ACD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切り取り</a:t>
            </a:r>
          </a:p>
        </p:txBody>
      </p:sp>
      <p:sp>
        <p:nvSpPr>
          <p:cNvPr id="36" name="shortcut-cut-key-background">
            <a:extLst xmlns:a="http://schemas.openxmlformats.org/drawingml/2006/main">
              <a:ext uri="{FF2B5EF4-FFF2-40B4-BE49-F238E27FC236}">
                <a16:creationId xmlns:a16="http://schemas.microsoft.com/office/drawing/2014/main" id="{65D319BD-BB6C-49E0-BEA3-7D42E5CF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shortcut-cut-key">
            <a:extLst xmlns:a="http://schemas.openxmlformats.org/drawingml/2006/main">
              <a:ext uri="{FF2B5EF4-FFF2-40B4-BE49-F238E27FC236}">
                <a16:creationId xmlns:a16="http://schemas.microsoft.com/office/drawing/2014/main" id="{53882DEB-6012-4679-A849-58A91593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57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Ctrl / ⌘ + X</a:t>
            </a:r>
          </a:p>
        </p:txBody>
      </p:sp>
      <p:sp>
        <p:nvSpPr>
          <p:cNvPr id="38" name="shortcut-cut-description">
            <a:extLst xmlns:a="http://schemas.openxmlformats.org/drawingml/2006/main">
              <a:ext uri="{FF2B5EF4-FFF2-40B4-BE49-F238E27FC236}">
                <a16:creationId xmlns:a16="http://schemas.microsoft.com/office/drawing/2014/main" id="{09500679-70A1-418C-93F2-FAF4FE8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選択した内容を移動する</a:t>
            </a:r>
          </a:p>
        </p:txBody>
      </p:sp>
    </p:spTree>
    <p:extLst>
      <p:ext uri="{BB962C8B-B14F-4D97-AF65-F5344CB8AC3E}">
        <p14:creationId xmlns:p14="http://schemas.microsoft.com/office/powerpoint/2010/main" val="1364024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F6CD1-9656-4772-A34E-5DEACEA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FE91F-C414-43BF-8BA5-3CE83B1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操作演習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CA703-6A0D-47CC-AE8A-04F124FA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コピー・貼り付け・元に戻す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79B1E-B0C5-4518-8E36-A9908B6E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ACB85-6D01-4329-8F1B-3BA014D2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D30F5-3217-4BB1-867B-2FC1215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7C444-F5D8-4D08-AC51-D8D0FCE9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3718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38C54-7C30-4D5A-B624-B4146F9D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D59D0-25E6-4688-A8E4-93A7E97F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98759-FE33-406A-9FB7-F4676D8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文字を選択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CCE6E-52EF-48C2-88B2-B478F12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914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この文章から『VEXUM』をドラッグして選びます。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F61C8-E289-4C91-807D-72C9914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47850"/>
            <a:ext cx="33718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CB38D-067F-491F-B4B9-A6833634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12A10-6931-4EF8-ADBC-3D274607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14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B0636-F12B-4C9D-ABF5-72B7ED28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574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コピーして貼り付け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D4392-315B-4208-88BD-0E38278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14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Ctrl / ⌘ + C → Ctrl / ⌘ + V を押します。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0CEDE-F69F-44CF-A8EC-E6E2C4B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3718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A14FF-F488-42CB-A04A-1EFED8AA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FA4-BA41-4597-9B4F-8F1A4A45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FFFBA-9FD3-417F-9A88-8F0D8077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操作を元に戻す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69441-D609-4EDA-ADCC-3ECFBC7F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914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貼り付けを取り消すために Ctrl / ⌘ + Z。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A8B3F-506E-465E-814B-B12E6CE2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457A4-EBE7-4A5F-8BDB-F5D00BA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rPr>
              <a:t>確認：元の文字が残り、同じ文字が1つ追加されていること</a:t>
            </a:r>
          </a:p>
        </p:txBody>
      </p:sp>
    </p:spTree>
    <p:extLst>
      <p:ext uri="{BB962C8B-B14F-4D97-AF65-F5344CB8AC3E}">
        <p14:creationId xmlns:p14="http://schemas.microsoft.com/office/powerpoint/2010/main" val="35891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B94B0-5667-4F3F-83C8-341B4C6A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B45FA-0A5D-4812-9398-11DD645A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ファイル管理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C6ADE-0C42-4B8E-A9C6-86FCB1B1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ファイルとフォルダの違い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695CE-F37F-4E78-BB29-A62E5908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01C94-527F-47A5-A051-98C22AC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314F3-8C0E-430D-A528-9B79C7E1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A6239-826E-4AC3-B438-178368FF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4D21B-E19D-4336-B8DC-F2718822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フォルダ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D6629-7F36-44E9-8535-800E059E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3714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C5B47-F4DA-41F9-A8CD-F95634D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研修資料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913E6-DFCB-4553-96EA-8B674CB0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□  IT基礎講座.pptx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□  参加者一覧.xlsx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0609B-ADBC-41FA-BCD6-A058ACC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58293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5C8AF-F105-48F9-B6A4-399645AD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ファイル管理の基本ルール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708C2-A7F9-454F-A700-4D1FD1A5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1. 何の仕事かでフォルダを分ける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2. ファイルは決めた場所に戻す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3. デスクトップに置きっぱなしにしない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00D00-386A-4623-BF13-D1DFF911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保存場所を統一することで、担当者以外もファイルを検索できます。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862277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160FC-6AF2-4673-A6AF-EEB0A74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F89B1-C7A1-4C70-8161-1E45749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ファイル管理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77566-A08A-4AB5-98CC-7C169E0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ファイル名の付け方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76FE4-4CCC-4B2E-8A10-CC11A73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842F2-57E1-41BC-9F15-8690503A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8BDB0-AE55-4080-9847-FB3B631E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27D77-73CA-4E3A-A9AF-11C48E3E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悪い例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A8785-8736-411E-B343-89176C8A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4953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FCEC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3D135-5E05-4C76-9435-037FB33F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最終版2_修正_new.pptx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EFAE7-942C-4CD5-B3C1-FAC3C18C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rPr>
              <a:t>良い例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F2A8D-368C-4ADB-8325-D16DA89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5486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14BCB-7016-4F51-8B48-B7F700B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499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rPr>
              <a:t>2026-09-03_IT基礎講座_v03.pptx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865D4-1D4F-4D08-A8CF-F3FE6910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1125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45D5D-F196-4203-A53F-28E5CD44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日付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97513-A358-4CC4-BE25-24F2DCF9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62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745C5-6546-4432-A57A-0034E061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62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119E4-F279-4B0A-8A2A-AB80D168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拡張子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3E852-FB3C-44DF-B301-6C2113D5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いつ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79608-B69A-423C-A670-56E9DE61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何の資料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18EA0-FE87-4568-AA02-96F9F1CE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何回目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69AFA-9871-45F9-92B7-5F5C918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種類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AF6F2-D0F8-4E17-8341-40B97A6A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拡張子（.pptx、.xlsxなど）は変更・削除しないでください。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945628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134FA-AA46-444E-A9C8-1E194B93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1C046-5736-4C61-B9A5-4DFA10A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ファイル管理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A9DA8-AF9E-498E-BBFC-DB2665D8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基本的なファイル操作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496B9-FE60-4415-B47D-244FC6BC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3219C-5ED8-492C-B91F-755F5E38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86D0A-9254-4388-8C15-F70BAC15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D8F57-EAB4-4C2D-84E3-117891B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CE001-BBB2-4012-879C-E245ACC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開く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E2892-424D-4481-8651-CB51BF5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中身を見る。場所は変わらない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03A7-99F3-4161-A9B0-C98B0A7B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C140C-7287-4A42-8BC7-EB5724CC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移動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66AC4-ADDC-4DCC-9998-FF06868B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元の場所から、新しい場所へ移る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CB3A7-2FAB-408C-971F-7A9AA2A4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8F10F-F4AC-4B58-A9AA-D212CD3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コピー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7659A-5198-4054-B930-029A0640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元を残し、同じものが増える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43681-AA38-483E-8259-99CD0A4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1816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D6B53-C8EF-4C4F-9A17-6B0595F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削除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A5E06-E80A-4A59-A555-8190464D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ごみ箱へ移る。共有物は特に注意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6052B-D549-48FD-85AF-D7BA43B4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125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FFF4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D9DC1-8894-41B2-8DF5-ABC8F28C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コピーは元データを残し、移動は保存場所を変更します。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7553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EF6FD-FEAA-4DA4-93E2-1EF10A8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B98CA-CBD7-4502-9E15-D639F4F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保存と形式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65CB1-E363-4539-9940-8AE2B2A1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保存方法とファイル形式の選択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65E5E-64BA-4F99-9199-5A4AFE22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53A30-936E-4D20-AF34-D75D39D6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6CD88-B5CF-49C5-AD2E-F706C55D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B369C-F4F5-48B7-880D-5C0CB72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3718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FC3E3-CAC7-4910-BAD0-7ACCEFED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B09BE-8E8C-48AA-93BC-3DD2921F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D1FAB-3A71-4AE9-B638-C1CD8D9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383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上書き保存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D9F19-77DB-45B7-B443-CDFA5344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29146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同じファイルを更新する。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使う場面：自分が続きを編集する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243D7-A376-4D27-93D3-D1E38C63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28800"/>
            <a:ext cx="33718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7BFFE-199F-4142-87A7-CD828D9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5F325-2838-4E0D-BA51-C6DDF60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8893E-7F5B-4C58-A2EB-8D31BEAC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383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名前を付けて保存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30C8D-7CFD-45F6-892F-DED0EB6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9850"/>
            <a:ext cx="29146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元を残し、別ファイルを作る。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使う場面：版を分けたい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B4149-C07B-4114-A5AC-2F1F2CEB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3718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0D347-3FD9-458E-B4BC-091D7B93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14DBC-CE1F-47C1-BC0D-34255FD4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E3FAC-D394-4242-89ED-CA439AE9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PDFにする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045F5-65BE-4594-9160-9730B9D0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9146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見た目を保ったまま渡す。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使う場面：閲覧用に渡す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48522-B086-4D44-A45B-0282733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選択基準：元データを残す必要性／共有先での編集要否</a:t>
            </a:r>
          </a:p>
        </p:txBody>
      </p:sp>
    </p:spTree>
    <p:extLst>
      <p:ext uri="{BB962C8B-B14F-4D97-AF65-F5344CB8AC3E}">
        <p14:creationId xmlns:p14="http://schemas.microsoft.com/office/powerpoint/2010/main" val="345444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954B6-F213-4816-B694-BF048D0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72D8D-B4EA-4BF6-BF85-0E0EAD91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クラウド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B8187-4732-4EAB-B4EA-1BECD009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ローカル保存とクラウド保存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5B954-B9C4-4B77-987B-CE7218B1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89127-7A08-45AE-AA81-4E2E647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DCCC1-799E-4260-99B5-EC08086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75DAC-F062-47E4-9AEC-51CCF91A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4762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020AF-255E-4003-8B6B-B83C2902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このパソコンだけ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D0F29-9A0A-4DB0-AC88-0C3AD6D2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ローカル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945EE-C25E-4A56-8CA4-6B029442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3924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別の端末からは、そのままでは見えない。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端末が壊れると失う可能性がある。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82234-F1ED-40DA-AF6A-BCB47DB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52959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02C0B-8609-4A57-8CDE-D5954DF1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インターネット上の保管場所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F3954-A97A-4E5C-AD0C-5B60794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クラウド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EF03E-6AAA-4E94-9DBE-F84A69F9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62350"/>
            <a:ext cx="4457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権限があれば別の端末からも開ける。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共有や共同編集がしやすい。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9F1C3-B1B0-4B23-8C86-675A7C01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FFF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03D74-696A-45B0-8B58-7B6562A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ブラウザ上で操作している場合も、ファイルの保存先を確認してください。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994160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5BC12-95B9-4414-8B2B-E5BE72A1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04240-3371-4CAD-9A55-2599121B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クラウド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F9AF5-73BF-4109-918A-90CFCF13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アップロードとダウンロードの違い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DB0A3-77E2-459D-9943-58DEF172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151B6-1685-4AA9-9BC1-FEB04BB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B58C2-B53F-4139-8899-760D7428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207FC-CEC4-4094-87DB-5B24A525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3909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E8F25-64B2-4626-9224-1847AC64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自分の端末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0B02B-5685-4FC9-B50A-A1BFA70F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ファイル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0D1B8-70AC-4B76-ADDD-5875E736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33909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69E4E-F971-496E-8568-0F4F17C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クラウド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56BFA-DDA0-4743-9652-ED4D815D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共有の保管場所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2B56F-6CE6-4A8D-B5B4-CA95C690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24100"/>
            <a:ext cx="388620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DFEFF-C4B0-43F9-A262-046F1E0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アップロード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ED73A-A10F-4882-82D1-C13DB272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09950"/>
            <a:ext cx="3886200" cy="685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8FE66-3CBD-4EAE-8E37-DA05117C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ダウンロード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19F29-15C5-4FB3-A5CA-C974A128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操作後は、ファイルの保存先を確認してください。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683870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73F09-F8E8-452C-AD55-A171DB0D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04FDA-CC82-40A6-8D7C-D4AA3964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クラウド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8C245-AB67-4FF3-8C36-CCF642B0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同期とバックアップの違い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966E6-EFBB-457E-B330-4C5F9A9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D00BD-151E-4687-B1B2-277BD28B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058AA-192A-45D0-BAF0-AD188C5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34BE0-C85A-48AD-ABCC-4B64486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1054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AB35B-D77D-4D30-8F21-70F7F6F2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同期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862FE-28FB-4A6E-B384-C9549A5B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複数の端末を同じ状態にそろえる。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1台で削除すると、他の端末でも消えることがある。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B8AAD-1539-40F3-9E2F-B7391A4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51054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1EB0D-1622-4F25-8A46-0B5BAED8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574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バックアップ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F734B-6FD0-4A53-A50A-E1EA00D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648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元データとは別に、復旧用のコピーを保管する。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誤削除や故障から戻すために使う。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671BA-E21A-4E01-896D-200D2B5E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FC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E056B-2422-47D7-A97F-D10D25E6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重要データは、同期とは別にバックアップを取得します。</a:t>
            </a:r>
          </a:p>
        </p:txBody>
      </p:sp>
    </p:spTree>
    <p:extLst>
      <p:ext uri="{BB962C8B-B14F-4D97-AF65-F5344CB8AC3E}">
        <p14:creationId xmlns:p14="http://schemas.microsoft.com/office/powerpoint/2010/main" val="21073667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349A9-F2B8-4ADE-A3A1-9C00092A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8A225-1B8F-496F-BF8C-18468C7E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アカウント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165EA-F6F6-4ECE-A21E-B3A55AB8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利用アカウントの確認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6B6F3-80AA-45A1-BC4E-7687860C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2A693-6422-4C1F-8D01-73031636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917FC-08DA-47A9-81E6-265131A7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92F13-3B9C-4C3B-B644-6FC2CAF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112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F89E4-C739-4401-A3B8-1CD492E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同じサービスでも、アカウントが違えば見えるファイルや権限が変わります。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6C317-91C2-4D92-B3D5-2181DE39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33718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69085-F881-445F-BE2B-C7E3BB8F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92A5D-5DCC-40AD-8019-CFFCA05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2717C-B52B-46F7-8BFD-EAEAD01F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メールアドレスを見る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88C0A-B929-4F75-9428-5D0B8DB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会社用か、個人用かを確認。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57548-BD47-4470-AB8C-858E417A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33750"/>
            <a:ext cx="33718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6C572-7135-43B8-8085-ECB13136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24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3541B-FE8D-453A-89E9-75810246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00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2D158-B544-43EB-9BFE-22833F08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43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対象を確認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A3FA7-07F5-4820-977D-FE339DD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148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会社・クライアント・学校など、目的と一致しているか。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BA646-907F-461E-AC90-425E5E7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3718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46BE0-43BC-4FAB-BBDB-C622B60A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0A6A2-0C07-4106-9F2A-5F29A799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6BDF3-79E8-4D1D-B327-4138472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利用後にログアウト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410AA-EE16-4B01-9608-993B75C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共用端末では必ず終了する。</a:t>
            </a:r>
          </a:p>
        </p:txBody>
      </p:sp>
    </p:spTree>
    <p:extLst>
      <p:ext uri="{BB962C8B-B14F-4D97-AF65-F5344CB8AC3E}">
        <p14:creationId xmlns:p14="http://schemas.microsoft.com/office/powerpoint/2010/main" val="13387367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63605-EBBA-49D1-98C6-5073F25F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902FE-6624-4A19-9828-CC5F6F40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アカウント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15FE2-22BA-4C2C-9D76-65DB01A1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パスワードと2段階認証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8FDC7-BB76-40E9-A571-E66FE1EA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164CE-B555-4F43-99A8-DDD6CFA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5EDDD-0E85-4FF1-9CC2-2F6DEB59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60A9A-57E9-4AA9-9C1A-47312098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3718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346B5-C5B8-474B-8EC5-9C2C581F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FF781-6897-4192-9075-A8FD681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42E46-3FD5-4B4D-A55A-9CFC7B53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長くする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C123F-A6EF-4595-8033-423AA60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914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短い単語1つではなく、推測されにくい長さにする。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BAC63-4C26-4414-8180-196C436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47850"/>
            <a:ext cx="33718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B94B6-2DDB-4DAD-BAF3-3415F5FC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C2A0D-2FDC-4312-897A-E721699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14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9BF02-9391-41CF-B01B-2E363D3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574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使い回さない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257D5-9CBD-4ED8-A20E-3B8126C8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14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1つ漏れても、別サービスまで入られないようにする。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C3E56-C1DE-4290-8BA2-931C0962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3718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BA9A6-F081-466E-8B8A-5ED0980C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53E32-29F7-4019-A478-D1EF7A78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F4687-1BCA-4838-BFAC-F4FC2EF5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2段階認証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B5FA7-06D5-4875-A8CF-13A8A55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914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パスワードに加え、別の確認を行う。必ず有効にする。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6C0CB-32AF-4460-8204-4126BA8D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FFF4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B4C36-A2AD-44AF-A772-DBAF31D1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認証コードおよびパスワードは、第三者と共有しないでください。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3898040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9E930-AF4E-48ED-B69C-41C4756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F1D49-A305-412C-982D-D63A7C77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業務ツール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C21D9-6E58-47CE-9734-1D0EB035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目的に応じたツールの選択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7DD10-1470-4C6A-989D-4ADE5DA0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EF2BA-93FF-44A2-AD1E-F331DADB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DD1D6-1538-4584-A2A7-664531E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92987-7417-4B70-B00F-8A3502FF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181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7BBC7-F676-4957-A159-3C2D8A2D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文章を作る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5BD8B-0FBA-4243-BAF6-DE9A00EB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Word / Googleドキュメント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BBC06-AEA5-431F-9D59-45DCB64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181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BDDD5-D3EC-49E7-857E-26597ED2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表・計算をする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10A19-21E8-4AE2-8B3D-9D845FE6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Excel / Googleスプレッドシート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BAAD2-3985-4E3D-95BF-A7301B82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5181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01A32-0BCC-4335-97EC-0B4F6784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説明資料を作る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470E6-C70A-4806-B21B-107FC84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PowerPoint / Googleスライド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7454B-376C-4B38-8202-33E98AC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181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D5E0A-F5D6-4F1A-A6EE-F5F7ABC9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ファイルを保管・共有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CEBF5-9E05-4CFE-B3E2-8C93E897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OneDrive / Googleドライブ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9FA71-2373-495E-A06B-7BBBA80A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26A35-DF55-4EC8-9699-4DB73A7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9B72"/>
                </a:solidFill>
                <a:latin typeface="Helvetica Neue"/>
                <a:ea typeface="Helvetica Neue"/>
                <a:cs typeface="Helvetica Neue"/>
              </a:rPr>
              <a:t>利用するツールは、会社または取引先の指定に従ってください。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4389157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D3A70-47C9-4433-A12C-D8F9E25A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D52BC-5FC0-4837-ABD9-D3C38B4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共有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B821E-4327-41C1-9170-53A1F70C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添付ファイルと共有リンクの使い分け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8F337-F170-4325-A399-EDDA86D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F0347-9EA6-49AA-880F-5736B0D7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837D6-FFEF-426F-A333-A69A893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C16EE-56E4-4734-A8B9-6F1B16A9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1054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07720-C778-4C0B-9427-C97E7DA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添付ファイル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193AA-EE6E-499D-BAEB-F57B50FD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648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その時点のコピーを相手に渡す。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向いている：完成版を固定して渡す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注意：更新しても相手のコピーは変わらない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9CFD4-27A9-400C-9EE1-E5BDEF09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51054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6DF28-77CA-41F4-AF28-ED61946C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193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共有リンク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595A5-CCC9-43C7-BE87-63FA3841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4648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クラウド上の同じファイルを見てもらう。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向いている：共同編集・最新版の共有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注意：閲覧／編集の権限を確認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DD63E-F9E4-4546-8944-083A3BE9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FFF4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66C87-FF98-4699-BDCE-D2C473D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送信前確認項目：宛先／ファイル／共有権限</a:t>
            </a:r>
          </a:p>
        </p:txBody>
      </p:sp>
    </p:spTree>
    <p:extLst>
      <p:ext uri="{BB962C8B-B14F-4D97-AF65-F5344CB8AC3E}">
        <p14:creationId xmlns:p14="http://schemas.microsoft.com/office/powerpoint/2010/main" val="534482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8BEF9-99F1-4853-8E12-C586A56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CE2EE-3535-4119-9B6F-0BA7C078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情報とAI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0E925-9E15-497D-B21F-3FDAC4F0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生成AIの出力内容は検証が必要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443FD-9DBB-4DA5-BC48-D17525DA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5E240-CB1D-491A-BB41-A4E0927D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397E7-C674-4251-8DBD-7FB87D1E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668C2-EFCA-44C9-9F13-84AD7F2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3528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3A7FB-B5ED-448E-ABA0-93F9D157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1 目的・条件を明示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02392-0F41-47D7-BB60-3E538ED3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2895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何を作りたいか、条件は何かを具体的に書く。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50A32-DD8C-47F4-B965-9BD9223E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24050"/>
            <a:ext cx="33528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701D9-D2DF-43CD-A3CF-71D0463B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2 出力内容を検証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3BE99-4655-4A59-B82D-983F903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895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公式情報や元データと比べる。数字・固有名詞を特に確認。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F7BD6-CC10-4A32-AA67-8BCFDD7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33528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58C3B-B439-4396-81D5-91E1FE59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3 機密情報を入力しない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ADF8D-17F9-46BF-96BD-700B6980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895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個人用・無料AIに、会社やクライアントの情報を入力しない。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425C2-11DD-4534-8FE5-499EE2AB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892C8-0447-45BB-9071-29093DB4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業務では、会社・クライアントが指定したAIとクラウドだけを使います。</a:t>
            </a:r>
          </a:p>
        </p:txBody>
      </p:sp>
    </p:spTree>
    <p:extLst>
      <p:ext uri="{BB962C8B-B14F-4D97-AF65-F5344CB8AC3E}">
        <p14:creationId xmlns:p14="http://schemas.microsoft.com/office/powerpoint/2010/main" val="12138370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71A46-5FDE-4192-9AD0-BBB20703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6BAF4-C550-452E-AED9-880FC37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7F448-4AAF-4CB6-9DAB-6B12262B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不審な連絡を受けた場合の対応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07E72-5480-409A-923D-00DF785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A3EDE-E3F3-4CD2-BDE1-C660479A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E4CE-B636-4C6A-9A40-18D0E8A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444B7-1292-48DB-B7B5-17707B1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FC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00034-6A0F-4D17-9E22-199E7F11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不審な連絡の例：短時間での再認証や情報入力を要求する通知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E4407-52BF-4243-9FC0-C21C8D0F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4F84B-9732-4D8C-9D0C-AA195781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85F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CF309-92F5-4A2B-9782-1AC8640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FF529-20C1-469D-9C7B-4D84A91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操作を中断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F7E6-0D4B-4172-834C-139ACBC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リンクを押す前に、急がせる理由を疑う。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A8578-3C58-42BE-9A64-87734E64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528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8911A-AA54-4D7C-807F-A58CD34C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43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4007B-EA7A-4738-A1F7-49F66F96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19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8177C-D0C0-4606-81EE-FD497C92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623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確認する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69364-3FFA-487E-BD0B-3D2F7897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338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差出人、URL、文面、不自然な添付を確認。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5E457-1A2B-4FD0-BF6A-64E9D86E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3371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BA72C-313B-4C75-9B2B-984B7049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4EE22-F70D-4048-ACD4-57EA22F1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5E0EB-4FAA-4DD8-9E0E-C540F105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別経路で聞く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11EFC-9BAB-45DA-BAEF-7F8E125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338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本人や担当者へ、いつもの連絡方法で確認。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8C771-7841-418C-A4C3-68FB2AB7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不審な点がある場合は、操作を行わず担当者へ報告してください。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7996349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81C1B-0F27-4761-886F-608DDD4C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337E7-1A1E-455F-99CF-12BF42D9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トラブル対応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868F6-FD0F-47F2-B43F-E0AC903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トラブル発生時の確認手順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F6368-635A-4666-BFB0-A4794593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2ED32-5265-46DA-9146-AFE2353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87905-37B1-4E88-9CC7-BF8B7898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04431-720E-4398-9A54-A5F4A77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DAF84-7750-417B-9B0A-BE01251F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2F86F-F134-4B8B-ADC7-702695F4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84EB9-D0D8-46D9-98C1-926221C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F0893-7CE0-4ADD-B4EB-A38E616C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8140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表示やエラーを読む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BF782-8CA8-4148-9486-E4F7DA45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4CBE2-FBE1-4CC3-8664-A78C5FE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CCC95-0474-462D-A9CA-6AE7A80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95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取消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66315-CE2A-4ACF-96DC-5D5BDF5F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140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Ctrl / ⌘ + 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4BAC6-CD60-4D04-8725-E7D99F7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241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C51CF-51C9-4B4F-A1B0-E6436ECE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70D5C-F168-4690-8C70-615D0905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95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22E6F-F886-40C7-895E-7128BBB8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8140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作業中データを守る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82FDE-52B7-4E78-8749-2B1B17B0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374DE-069A-419D-94E3-DB868CC7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A789C-C22C-493D-8159-4708B0A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再起動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6D9C4-F2BB-45B7-8585-0D762EB6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8140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アプリ → 端末の順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AD492-2E91-4314-BF25-16015F65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241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435AB-56DB-4EC7-AA55-2CAFE3FC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91B4F-9EA4-46D3-AED4-4012C78D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報告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4E761-A399-483E-B3CC-A3683AAC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8140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画面・操作・時刻を伝える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DD034-F348-443F-BCF5-C8DF0593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1125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FFF4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F7A85-2815-4E65-A422-A5C1AD48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報告項目：実施した操作／表示内容／発生日時</a:t>
            </a:r>
          </a:p>
        </p:txBody>
      </p:sp>
    </p:spTree>
    <p:extLst>
      <p:ext uri="{BB962C8B-B14F-4D97-AF65-F5344CB8AC3E}">
        <p14:creationId xmlns:p14="http://schemas.microsoft.com/office/powerpoint/2010/main" val="2469974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40597-4D27-4BB2-BDA6-A91815A4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FB7B2-C461-4487-A1FF-DFEC0119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総合練習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61DCD-5312-4D8E-8B19-01FDDCB2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実技課題：ファイルの作成・保存・共有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91B87-9848-4481-855A-06AA9A4A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05186-DA0C-4F9B-88CB-B1F6F72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ITリテラシー基礎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EAFAB-9146-407B-A4B5-49C30FBB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2F544-3DDC-4E06-9341-812954E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6D3F7-F91E-4A32-95E1-F2E99708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8AC0E-29C6-4C6F-8F57-E60D7A5A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87317-F006-487B-9F94-E8EBC6B7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193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指定フォルダを作る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345AB-40A6-4CD9-B9A4-BA2CF16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確認：場所が正しい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7FFB7-C132-4C85-BD49-1558F92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5AE37-9B48-49BE-9A33-6FD27B46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EF33C-2EB2-4870-8FAE-6B66404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B8CD1-7236-4511-97D4-A697E41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193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文書を作成・保存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DCA8A-CEDE-4FEB-BAB2-7FD8BBC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90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確認：名前と拡張子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9A237-8AA2-403F-AE1D-9ACB4DE0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74DE2-8D02-493F-A5D8-E43B0B7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D15CB-F006-4B82-871A-8520FA9B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EEC4C-81FA-425B-9F79-51F5C2DB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PDFも作る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EB339-1E8B-453B-B947-EF7B0C5A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確認：PDFが開く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FBEBC-D201-440A-8D2D-DA974E7D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D3D7E-B294-4E5B-A790-856A52C4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05196-0BC8-4A6D-B829-690378C1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FF662-19B0-4EC5-8106-123F54F6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クラウドへ送る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3B327-5828-4A11-B1CD-1E5EFD0C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確認：保存先がクラウド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6E6B61-D829-4FC9-AA70-0D1D6FBC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8A0B2-4406-447C-A3E1-84BABC30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1A15B-6A29-4C87-8869-FDAB0599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AA546-2EEC-4AC7-A8DF-B0B5B56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766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閲覧権限で共有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2D70E-A854-4801-879F-F22B8220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確認：相手と権限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00F2C-C7A4-429F-9C5A-A00E3F6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6F4523-C173-457A-A009-6E68BFB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9B72"/>
          </a:solidFill>
          <a:ln xmlns:a="http://schemas.openxmlformats.org/drawingml/2006/main" w="9525">
            <a:solidFill>
              <a:srgbClr val="1D9B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29B367-AEB6-433D-ADB9-91EF7E99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EEF1F-494D-4482-99A7-96A6792B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相手が開けるか確認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6D71EA-76F6-49BC-8D13-E26E61B6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確認：実際に開ける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F08D21-6206-4267-857C-778EF874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不明点がある場合は、22ページの確認手順に従ってください。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0146545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4CC21-420B-4059-B276-EA6C845F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BE5D5-281F-47F1-B794-D35E9DCD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まとめ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01215-E238-47D5-97F1-982A8724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66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操作前の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確認事項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0BCB7-013E-42F8-A8D8-DDF40DC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1  操作の目的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2  ファイルの保存場所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3  利用中のアカウント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77F9E-0436-4446-9599-6A8A2FD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3429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F7CA-650A-433B-84D4-69E82D53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判断に迷う場合は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操作を中断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403FC-5856-4F31-BB1C-28B42FE6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9AB08-10B5-4622-B82D-6288B8BC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必要事項を確認後、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操作を再開してください。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E8D51-4FFF-4BE1-8A99-66361D2F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FC0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FC0DA"/>
                </a:solidFill>
                <a:latin typeface="Helvetica Neue"/>
                <a:ea typeface="Helvetica Neue"/>
                <a:cs typeface="Helvetica Neue"/>
              </a:rPr>
              <a:t>VEXUM学園  ITリテラシー基礎講座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CB2FF-6D36-4EA9-98A0-8BC9D199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0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FC0DA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45213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2026-09-03T12:43:53.8500000Z</dcterms:created>
  <dcterms:modified xsi:type="dcterms:W3CDTF">2026-09-03T12:43:53.8500000Z</dcterms:modified>
</coreProperties>
</file>