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40d574315a4113" /><Relationship Type="http://schemas.openxmlformats.org/officeDocument/2006/relationships/extended-properties" Target="/docProps/app.xml" Id="R0f4bb8eaaec4445a" /><Relationship Type="http://schemas.openxmlformats.org/officeDocument/2006/relationships/officeDocument" Target="/ppt/presentation.xml" Id="Re051bf5683cf41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9bb953be8d417f"/>
  </p:sldMasterIdLst>
  <p:notesMasterIdLst>
    <p:notesMasterId xmlns:r="http://schemas.openxmlformats.org/officeDocument/2006/relationships" r:id="R04b69b5e91d54338"/>
  </p:notesMasterIdLst>
  <p:sldIdLst>
    <p:sldId xmlns:r="http://schemas.openxmlformats.org/officeDocument/2006/relationships" id="256" r:id="R40976beb551e44b7"/>
    <p:sldId xmlns:r="http://schemas.openxmlformats.org/officeDocument/2006/relationships" id="257" r:id="Rbc597db1c66a4e98"/>
    <p:sldId xmlns:r="http://schemas.openxmlformats.org/officeDocument/2006/relationships" id="258" r:id="Rf8c93cc601ec46dc"/>
    <p:sldId xmlns:r="http://schemas.openxmlformats.org/officeDocument/2006/relationships" id="259" r:id="R3ba3a110ac184348"/>
    <p:sldId xmlns:r="http://schemas.openxmlformats.org/officeDocument/2006/relationships" id="260" r:id="R17aad0c2f9e745e2"/>
    <p:sldId xmlns:r="http://schemas.openxmlformats.org/officeDocument/2006/relationships" id="261" r:id="R08728b71d2914965"/>
    <p:sldId xmlns:r="http://schemas.openxmlformats.org/officeDocument/2006/relationships" id="262" r:id="R4c343f6aabac4f86"/>
    <p:sldId xmlns:r="http://schemas.openxmlformats.org/officeDocument/2006/relationships" id="263" r:id="R48c5effc471240f7"/>
    <p:sldId xmlns:r="http://schemas.openxmlformats.org/officeDocument/2006/relationships" id="264" r:id="Ra3e9f6a1161249ca"/>
    <p:sldId xmlns:r="http://schemas.openxmlformats.org/officeDocument/2006/relationships" id="265" r:id="Rc26e8efad28040f0"/>
    <p:sldId xmlns:r="http://schemas.openxmlformats.org/officeDocument/2006/relationships" id="266" r:id="Rc96d5d2e6f8c4f78"/>
    <p:sldId xmlns:r="http://schemas.openxmlformats.org/officeDocument/2006/relationships" id="267" r:id="Rdf19a11f35ce49a6"/>
    <p:sldId xmlns:r="http://schemas.openxmlformats.org/officeDocument/2006/relationships" id="268" r:id="R148739fbca1a4681"/>
    <p:sldId xmlns:r="http://schemas.openxmlformats.org/officeDocument/2006/relationships" id="269" r:id="R11ae35d3584e4d82"/>
    <p:sldId xmlns:r="http://schemas.openxmlformats.org/officeDocument/2006/relationships" id="270" r:id="Ra418aac96a0f4a81"/>
    <p:sldId xmlns:r="http://schemas.openxmlformats.org/officeDocument/2006/relationships" id="271" r:id="Rf76e16bc1d1a4863"/>
    <p:sldId xmlns:r="http://schemas.openxmlformats.org/officeDocument/2006/relationships" id="272" r:id="Ra5bb9ed5daab407b"/>
    <p:sldId xmlns:r="http://schemas.openxmlformats.org/officeDocument/2006/relationships" id="273" r:id="Rd2962f655c374ff8"/>
    <p:sldId xmlns:r="http://schemas.openxmlformats.org/officeDocument/2006/relationships" id="274" r:id="R577cdad927d04308"/>
    <p:sldId xmlns:r="http://schemas.openxmlformats.org/officeDocument/2006/relationships" id="275" r:id="R6697072ebd814ed6"/>
    <p:sldId xmlns:r="http://schemas.openxmlformats.org/officeDocument/2006/relationships" id="276" r:id="Ra15cef91b20e4261"/>
    <p:sldId xmlns:r="http://schemas.openxmlformats.org/officeDocument/2006/relationships" id="277" r:id="R90e135538dc14405"/>
    <p:sldId xmlns:r="http://schemas.openxmlformats.org/officeDocument/2006/relationships" id="278" r:id="R384d91a5bfda41b5"/>
    <p:sldId xmlns:r="http://schemas.openxmlformats.org/officeDocument/2006/relationships" id="279" r:id="Rf47409f2b8224b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ac3104642a4dc8" /><Relationship Type="http://schemas.openxmlformats.org/officeDocument/2006/relationships/slideMaster" Target="/ppt/slideMasters/slideMaster1.xml" Id="R6e9bb953be8d417f" /><Relationship Type="http://schemas.openxmlformats.org/officeDocument/2006/relationships/notesMaster" Target="/ppt/notesMasters/notesMaster1.xml" Id="R04b69b5e91d54338" /><Relationship Type="http://schemas.openxmlformats.org/officeDocument/2006/relationships/presProps" Target="/ppt/presProps.xml" Id="R64390f715ab746f9" /><Relationship Type="http://schemas.openxmlformats.org/officeDocument/2006/relationships/tableStyles" Target="/ppt/tableStyles.xml" Id="R6556f3bc65eb404f" /><Relationship Type="http://schemas.openxmlformats.org/officeDocument/2006/relationships/slide" Target="/ppt/slides/slide1.xml" Id="R40976beb551e44b7" /><Relationship Type="http://schemas.openxmlformats.org/officeDocument/2006/relationships/slide" Target="/ppt/slides/slide2.xml" Id="Rbc597db1c66a4e98" /><Relationship Type="http://schemas.openxmlformats.org/officeDocument/2006/relationships/slide" Target="/ppt/slides/slide3.xml" Id="Rf8c93cc601ec46dc" /><Relationship Type="http://schemas.openxmlformats.org/officeDocument/2006/relationships/slide" Target="/ppt/slides/slide4.xml" Id="R3ba3a110ac184348" /><Relationship Type="http://schemas.openxmlformats.org/officeDocument/2006/relationships/slide" Target="/ppt/slides/slide5.xml" Id="R17aad0c2f9e745e2" /><Relationship Type="http://schemas.openxmlformats.org/officeDocument/2006/relationships/slide" Target="/ppt/slides/slide6.xml" Id="R08728b71d2914965" /><Relationship Type="http://schemas.openxmlformats.org/officeDocument/2006/relationships/slide" Target="/ppt/slides/slide7.xml" Id="R4c343f6aabac4f86" /><Relationship Type="http://schemas.openxmlformats.org/officeDocument/2006/relationships/slide" Target="/ppt/slides/slide8.xml" Id="R48c5effc471240f7" /><Relationship Type="http://schemas.openxmlformats.org/officeDocument/2006/relationships/slide" Target="/ppt/slides/slide9.xml" Id="Ra3e9f6a1161249ca" /><Relationship Type="http://schemas.openxmlformats.org/officeDocument/2006/relationships/slide" Target="/ppt/slides/slide10.xml" Id="Rc26e8efad28040f0" /><Relationship Type="http://schemas.openxmlformats.org/officeDocument/2006/relationships/slide" Target="/ppt/slides/slide11.xml" Id="Rc96d5d2e6f8c4f78" /><Relationship Type="http://schemas.openxmlformats.org/officeDocument/2006/relationships/slide" Target="/ppt/slides/slide12.xml" Id="Rdf19a11f35ce49a6" /><Relationship Type="http://schemas.openxmlformats.org/officeDocument/2006/relationships/slide" Target="/ppt/slides/slide13.xml" Id="R148739fbca1a4681" /><Relationship Type="http://schemas.openxmlformats.org/officeDocument/2006/relationships/slide" Target="/ppt/slides/slide14.xml" Id="R11ae35d3584e4d82" /><Relationship Type="http://schemas.openxmlformats.org/officeDocument/2006/relationships/slide" Target="/ppt/slides/slide15.xml" Id="Ra418aac96a0f4a81" /><Relationship Type="http://schemas.openxmlformats.org/officeDocument/2006/relationships/slide" Target="/ppt/slides/slide16.xml" Id="Rf76e16bc1d1a4863" /><Relationship Type="http://schemas.openxmlformats.org/officeDocument/2006/relationships/slide" Target="/ppt/slides/slide17.xml" Id="Ra5bb9ed5daab407b" /><Relationship Type="http://schemas.openxmlformats.org/officeDocument/2006/relationships/slide" Target="/ppt/slides/slide18.xml" Id="Rd2962f655c374ff8" /><Relationship Type="http://schemas.openxmlformats.org/officeDocument/2006/relationships/slide" Target="/ppt/slides/slide19.xml" Id="R577cdad927d04308" /><Relationship Type="http://schemas.openxmlformats.org/officeDocument/2006/relationships/slide" Target="/ppt/slides/slide20.xml" Id="R6697072ebd814ed6" /><Relationship Type="http://schemas.openxmlformats.org/officeDocument/2006/relationships/slide" Target="/ppt/slides/slide21.xml" Id="Ra15cef91b20e4261" /><Relationship Type="http://schemas.openxmlformats.org/officeDocument/2006/relationships/slide" Target="/ppt/slides/slide22.xml" Id="R90e135538dc14405" /><Relationship Type="http://schemas.openxmlformats.org/officeDocument/2006/relationships/slide" Target="/ppt/slides/slide23.xml" Id="R384d91a5bfda41b5" /><Relationship Type="http://schemas.openxmlformats.org/officeDocument/2006/relationships/slide" Target="/ppt/slides/slide24.xml" Id="Rf47409f2b8224b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7e711d879b4a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e50b978c4d4501" /><Relationship Type="http://schemas.openxmlformats.org/officeDocument/2006/relationships/notesMaster" Target="/ppt/notesMasters/notesMaster1.xml" Id="Re7dfa32df51642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a6a268fdb64f8a" /><Relationship Type="http://schemas.openxmlformats.org/officeDocument/2006/relationships/notesMaster" Target="/ppt/notesMasters/notesMaster1.xml" Id="Red386254a67642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eaa1ebe0a544d6" /><Relationship Type="http://schemas.openxmlformats.org/officeDocument/2006/relationships/notesMaster" Target="/ppt/notesMasters/notesMaster1.xml" Id="R71413fc14eb24e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376d3cee454a2b" /><Relationship Type="http://schemas.openxmlformats.org/officeDocument/2006/relationships/notesMaster" Target="/ppt/notesMasters/notesMaster1.xml" Id="R40bdb4e8dca746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c66350a0c64bd4" /><Relationship Type="http://schemas.openxmlformats.org/officeDocument/2006/relationships/notesMaster" Target="/ppt/notesMasters/notesMaster1.xml" Id="R5fa843ecd1ca42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aecf790cef4637" /><Relationship Type="http://schemas.openxmlformats.org/officeDocument/2006/relationships/notesMaster" Target="/ppt/notesMasters/notesMaster1.xml" Id="R6e55663d885840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9898d52d8a24378" /><Relationship Type="http://schemas.openxmlformats.org/officeDocument/2006/relationships/notesMaster" Target="/ppt/notesMasters/notesMaster1.xml" Id="R28fbd73577f842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bb6fa2f25647a9" /><Relationship Type="http://schemas.openxmlformats.org/officeDocument/2006/relationships/notesMaster" Target="/ppt/notesMasters/notesMaster1.xml" Id="R765dba2ea27048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5b11c68b9c4dde" /><Relationship Type="http://schemas.openxmlformats.org/officeDocument/2006/relationships/notesMaster" Target="/ppt/notesMasters/notesMaster1.xml" Id="Rebb260bc5334445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330b833dc2048a8" /><Relationship Type="http://schemas.openxmlformats.org/officeDocument/2006/relationships/notesMaster" Target="/ppt/notesMasters/notesMaster1.xml" Id="Rec262800a39149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89c4ffa657466a" /><Relationship Type="http://schemas.openxmlformats.org/officeDocument/2006/relationships/notesMaster" Target="/ppt/notesMasters/notesMaster1.xml" Id="Rd73a6b5f86bc4c4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e87080bcdc40bc" /><Relationship Type="http://schemas.openxmlformats.org/officeDocument/2006/relationships/notesMaster" Target="/ppt/notesMasters/notesMaster1.xml" Id="Rc65be7058e8d4a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442ad697041464b" /><Relationship Type="http://schemas.openxmlformats.org/officeDocument/2006/relationships/notesMaster" Target="/ppt/notesMasters/notesMaster1.xml" Id="R5a32ada2228b473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4e5702b40a4d9a" /><Relationship Type="http://schemas.openxmlformats.org/officeDocument/2006/relationships/notesMaster" Target="/ppt/notesMasters/notesMaster1.xml" Id="Rfbe76d52c37a4f5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559009435994426" /><Relationship Type="http://schemas.openxmlformats.org/officeDocument/2006/relationships/notesMaster" Target="/ppt/notesMasters/notesMaster1.xml" Id="Rdeb4bab4aca843e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3630d1686d49c8" /><Relationship Type="http://schemas.openxmlformats.org/officeDocument/2006/relationships/notesMaster" Target="/ppt/notesMasters/notesMaster1.xml" Id="R43fbc95c974d4e6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67ae54bae624c42" /><Relationship Type="http://schemas.openxmlformats.org/officeDocument/2006/relationships/notesMaster" Target="/ppt/notesMasters/notesMaster1.xml" Id="R7f852ac13655489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ce4655b83414681" /><Relationship Type="http://schemas.openxmlformats.org/officeDocument/2006/relationships/notesMaster" Target="/ppt/notesMasters/notesMaster1.xml" Id="Rce1e0496480d46d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a05c5c9dad0496f" /><Relationship Type="http://schemas.openxmlformats.org/officeDocument/2006/relationships/notesMaster" Target="/ppt/notesMasters/notesMaster1.xml" Id="R5dbc9d9a3d94434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4f6a4df27f64bb0" /><Relationship Type="http://schemas.openxmlformats.org/officeDocument/2006/relationships/notesMaster" Target="/ppt/notesMasters/notesMaster1.xml" Id="R1d4df744829d4a7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3863a9b29274e79" /><Relationship Type="http://schemas.openxmlformats.org/officeDocument/2006/relationships/notesMaster" Target="/ppt/notesMasters/notesMaster1.xml" Id="R6399b772d8df49d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c976f12918d43f8" /><Relationship Type="http://schemas.openxmlformats.org/officeDocument/2006/relationships/notesMaster" Target="/ppt/notesMasters/notesMaster1.xml" Id="R0ac5dd8210594ca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343760768b04ccc" /><Relationship Type="http://schemas.openxmlformats.org/officeDocument/2006/relationships/notesMaster" Target="/ppt/notesMasters/notesMaster1.xml" Id="Rc7eedd55283a4af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1c4681dd6c34186" /><Relationship Type="http://schemas.openxmlformats.org/officeDocument/2006/relationships/notesMaster" Target="/ppt/notesMasters/notesMaster1.xml" Id="R26872e5516cb41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講座のゴールを先に伝える。用語テストではなく、実際の仕事で迷わず操作できることが目的。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deck: VEXUM学園_ITリテラシー基礎講座_IMAGE2版_30ページ.pptx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挙手または口頭で、経験したことがある項目を確認。受講者の不安を『よくあること』として扱う。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講座全体の見取り図。各章が最後の実践課題のどこにつながるか、都度戻って説明する。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比喩だけで終わらず、症状と結びつける。CPU=処理、メモリ=開いている作業、保存容量=閉じても残るデータ。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WindowsやmacOS自体を『アプリ』だと思っている受講者を想定。再起動や不具合相談時に、どこで起きているか説明できる状態を目指す。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ブラウザ、検索エンジン、検索欄を混同しないよう、実際の画面を見せながら説明する。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最初から8個以上を暗記させない。C/V/Z/Fの4つを講座中に何度も使って定着させる。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受講者自身に操作させる。できたか確認してから次へ。切り取りはこの練習の後に追加説明する。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実際のファイル管理画面を開き、『入れ物』と『中身』を指し示す。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拡張子は『種類を示す末尾』として説明。表示されない設定もあるため、勝手に書き換えないことを優先する。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操作後の結果を声に出して確認させる。特に移動は、元の場所から見えなくなる点を強調する。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保存、名前を付けて保存、PDF出力を、コマンド名ではなく用途で選択させる。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『アプリかブラウザか』と『ローカルかクラウドか』は別の軸。保存先表示を確認する習慣をつける。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言葉の暗記ではなく、ファイルの移動方向を指で示して説明する。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同期サービスのごみ箱・履歴の存在は環境によって違う。会社の正式な保存ルールに従うよう補足する。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実際のプロフィールアイコンから、メールアドレスや組織名を確認する場所を示す。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会社の情報管理ルールとして2段階認証を必須と説明する。認証コードを聞く連絡にも応じない。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社内情報管理ルール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製品名を暗記するのではなく、目的→指定されたツールの順で判断させる。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共有リンクはURLを送れば終わりではない。相手のアカウントで開ける権限かを確認する。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AIはもっともらしい誤りを出すことがある。業務情報は指定環境のみで扱い、個人AIへ入力しない。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社内情報管理ルール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フィッシングを見抜く完璧さより、クリック前に止まる習慣を重視する。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トラブル時の安全な行動順。いきなり何度もクリックしたり、未保存のまま強制終了したりしない。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評価は用語の説明ではなく、6つの操作を一人で完了できるかで行う。途中で詰まった場合は、どの段階かを言葉にしてもらう。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社内情報管理ルール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最後に3つの問いを復唱し、実務で迷ったときの共通言語として持ち帰ってもらう。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79849f19ee43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1fed6d268b4f8a" /><Relationship Type="http://schemas.openxmlformats.org/officeDocument/2006/relationships/slideLayout" Target="/ppt/slideLayouts/slideLayout1.xml" Id="Rd5262512c71b40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262512c71b40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5e409ecfa498c" /><Relationship Type="http://schemas.openxmlformats.org/officeDocument/2006/relationships/notesSlide" Target="/ppt/notesSlides/notesSlide1.xml" Id="R14d650ac69c249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e4dcb9b084ba6" /><Relationship Type="http://schemas.openxmlformats.org/officeDocument/2006/relationships/notesSlide" Target="/ppt/notesSlides/notesSlide2.xml" Id="Rb34620e6bf704b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a52a843994b19" /><Relationship Type="http://schemas.openxmlformats.org/officeDocument/2006/relationships/notesSlide" Target="/ppt/notesSlides/notesSlide3.xml" Id="R8fc12181b15648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4d20cf6ca49ab" /><Relationship Type="http://schemas.openxmlformats.org/officeDocument/2006/relationships/notesSlide" Target="/ppt/notesSlides/notesSlide4.xml" Id="R99c6ea5737064d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87cf1d2554830" /><Relationship Type="http://schemas.openxmlformats.org/officeDocument/2006/relationships/notesSlide" Target="/ppt/notesSlides/notesSlide5.xml" Id="R7c6582a9223b45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1c3476bc247c2" /><Relationship Type="http://schemas.openxmlformats.org/officeDocument/2006/relationships/notesSlide" Target="/ppt/notesSlides/notesSlide6.xml" Id="R0b0288150b9b40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52025e4137461d" /><Relationship Type="http://schemas.openxmlformats.org/officeDocument/2006/relationships/notesSlide" Target="/ppt/notesSlides/notesSlide7.xml" Id="R7cac66b7803144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e2ef34dfe4f83" /><Relationship Type="http://schemas.openxmlformats.org/officeDocument/2006/relationships/notesSlide" Target="/ppt/notesSlides/notesSlide8.xml" Id="Rd4136e33e79541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efde83f1b4ae5" /><Relationship Type="http://schemas.openxmlformats.org/officeDocument/2006/relationships/notesSlide" Target="/ppt/notesSlides/notesSlide9.xml" Id="R0ea7a5fc4d4744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f840fa8684082" /><Relationship Type="http://schemas.openxmlformats.org/officeDocument/2006/relationships/notesSlide" Target="/ppt/notesSlides/notesSlide10.xml" Id="R9d678efb6cf645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a6739d42342e4" /><Relationship Type="http://schemas.openxmlformats.org/officeDocument/2006/relationships/notesSlide" Target="/ppt/notesSlides/notesSlide11.xml" Id="R817c44c1d8e341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4b440d0da480b" /><Relationship Type="http://schemas.openxmlformats.org/officeDocument/2006/relationships/notesSlide" Target="/ppt/notesSlides/notesSlide12.xml" Id="R99f168187aa24f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04f8629384d42" /><Relationship Type="http://schemas.openxmlformats.org/officeDocument/2006/relationships/notesSlide" Target="/ppt/notesSlides/notesSlide13.xml" Id="Radb5c758524341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23ba589624478" /><Relationship Type="http://schemas.openxmlformats.org/officeDocument/2006/relationships/notesSlide" Target="/ppt/notesSlides/notesSlide14.xml" Id="R2c79d47ea56d4e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18111ba914d4f" /><Relationship Type="http://schemas.openxmlformats.org/officeDocument/2006/relationships/notesSlide" Target="/ppt/notesSlides/notesSlide15.xml" Id="R021e5bdb66ba496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b8e6684d54d71" /><Relationship Type="http://schemas.openxmlformats.org/officeDocument/2006/relationships/notesSlide" Target="/ppt/notesSlides/notesSlide16.xml" Id="R7ba051517247408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50ecfd2554b90" /><Relationship Type="http://schemas.openxmlformats.org/officeDocument/2006/relationships/notesSlide" Target="/ppt/notesSlides/notesSlide17.xml" Id="Rbbeb8d1f9e1a4d4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c04d097be4a4a" /><Relationship Type="http://schemas.openxmlformats.org/officeDocument/2006/relationships/notesSlide" Target="/ppt/notesSlides/notesSlide18.xml" Id="R26caf21e6c4e444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97fe68a8c4123" /><Relationship Type="http://schemas.openxmlformats.org/officeDocument/2006/relationships/notesSlide" Target="/ppt/notesSlides/notesSlide19.xml" Id="Ra502f7674eba40f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787126e2a4e38" /><Relationship Type="http://schemas.openxmlformats.org/officeDocument/2006/relationships/notesSlide" Target="/ppt/notesSlides/notesSlide20.xml" Id="R805e39dee08e49e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42b4246104abf" /><Relationship Type="http://schemas.openxmlformats.org/officeDocument/2006/relationships/notesSlide" Target="/ppt/notesSlides/notesSlide21.xml" Id="R25226fe280234d3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58790ba4340fa" /><Relationship Type="http://schemas.openxmlformats.org/officeDocument/2006/relationships/notesSlide" Target="/ppt/notesSlides/notesSlide22.xml" Id="Rc8ee86aa5e5c4b0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497be0c4d449a" /><Relationship Type="http://schemas.openxmlformats.org/officeDocument/2006/relationships/notesSlide" Target="/ppt/notesSlides/notesSlide23.xml" Id="Ra4313334b9d8435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fc30d38aa4c80" /><Relationship Type="http://schemas.openxmlformats.org/officeDocument/2006/relationships/notesSlide" Target="/ppt/notesSlides/notesSlide24.xml" Id="R37c671273ef942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4F03F5-9CB4-43A2-9873-3A3E1468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09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090324-C892-4565-A656-86EFEC96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VEXUM学園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3AC015-9732-4286-8512-573856F9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72390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ITリテラシー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基礎講座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6D149-0DF0-4B43-BE00-3C5B5D55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52900"/>
            <a:ext cx="666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業務で使用する基本的なIT操作を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理解し、実行できる状態を目指す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3105B5-B6EB-4E81-BDC5-4B1CEF99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57300"/>
            <a:ext cx="22860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AFDC43-665A-42E5-A9C0-A7CE2229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05000"/>
            <a:ext cx="190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研修目的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B53212-B023-4C30-A7CA-BAA4433F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717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基本操作の習得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63BB7-0C2B-491A-8E05-A54A3C21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VEXUM学園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147FBC-E627-46FB-8492-EE34F70A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606956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B40008-97F4-427A-8515-C5FA9EDB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307613-A164-4B09-9383-09D1B4C8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研修概要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3A2794-C421-4D8C-AC41-611B7EC8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業務で発生しやすい操作上の問題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8FA0D-831D-4FD3-B629-86421AF0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6D23A-8726-4AB2-AF02-A1E9B883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52F81A-5F27-4A37-AB13-A9FA7EBA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44182-C4BA-44F2-942E-43209573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33718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FB1F8-5A86-4C61-BF31-2E126539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保存場所を特定できない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65FA35-5E57-4EEA-96DF-7BE8A65A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2914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保存場所となるフォルダを把握していない。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B834EF-2A71-4595-A419-F0BD6463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809750"/>
            <a:ext cx="33718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EB8665-DC60-40F2-AD5D-05A7E692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0193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共有先で開けない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CF288-A94B-4349-9419-53D2C1EC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495550"/>
            <a:ext cx="2914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ファイル形式または共有権限が適切でない。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FABFF4-8381-4E2B-A42F-CB2A7A40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3718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1655C-6A84-4FDB-827F-E874672C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193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アカウントの取り違え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EA0EB1-6D26-4393-8C83-4EA273C2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95550"/>
            <a:ext cx="2914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会社用と個人用のアカウントを混同する。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2B14F3-7BF6-452E-A0FF-3FBA6940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11125200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5C5165-B258-4ECB-9A03-53DC2A71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1055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本講座では、基本操作の目的と手順を体系的に整理します。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55C329-7278-4543-8E56-B2C5CA75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1055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対象範囲：ファイル管理、クラウド、アカウント、共有、安全対策</a:t>
            </a:r>
          </a:p>
        </p:txBody>
      </p:sp>
    </p:spTree>
    <p:extLst>
      <p:ext uri="{BB962C8B-B14F-4D97-AF65-F5344CB8AC3E}">
        <p14:creationId xmlns:p14="http://schemas.microsoft.com/office/powerpoint/2010/main" val="3298373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66B081-506C-4C7E-9051-406D91CA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0A530-C62E-4A2E-A300-7F155C50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到達目標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AB29D-9BB1-4E19-A83C-8467E58D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本講座で習得する基本操作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9FF26-D04D-482C-85E6-B8398EBA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B5FB9D-FBB0-4228-814F-0C25ADBB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EC570-ED1F-45A0-9BF3-A87D15C67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29C75B-B9F2-45F0-A584-75FF9E98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1600200" cy="16002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3792E-0149-4E97-9418-39FFA27F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46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C37F9-3978-437D-A65C-29163E2B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探す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05F6D-A05C-48E3-878E-9FD817C3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433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必要なファイルを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見つける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E4AEB8-D463-4EC4-9D67-EE133FDB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914650"/>
            <a:ext cx="4953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AF45D-FA2F-4BF1-ACFF-83AAA4C6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24100"/>
            <a:ext cx="1600200" cy="16002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F054F-6CF6-47B1-8B76-0275667E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146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C40F2-B546-4D9F-93FC-9C8117CE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670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編集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0F26B1-81B1-4EE8-8229-74422D8A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5433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内容を変える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472B3F-9D61-4570-842F-11E1B38E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14650"/>
            <a:ext cx="4953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B50F4-98A2-4B0A-82D6-F606B6E0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24100"/>
            <a:ext cx="1600200" cy="16002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30BF62-2AD2-45BB-AEE8-9209510A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146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C62EEB-5130-455F-BA78-A77A98EB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670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保存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6B732E-2D42-4CA2-8E4E-E6A915E8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433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名前と場所を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決める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952382-063A-4F4A-AD16-4E10FF0F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953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6EAC13-CA11-426C-8896-ED0F8103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24100"/>
            <a:ext cx="1600200" cy="16002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E155E3-3AB9-428F-89DE-CA6E6125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146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274CEB-DD24-4C04-B212-3A3533B6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670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共有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A0BD7D-0569-4BAB-A8C3-27AC9A5E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433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相手と権限を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選ぶ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AB87A6-03A9-401E-9EBC-68BDFE6F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14650"/>
            <a:ext cx="4953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9174C5-B78F-45E8-8495-39964D9C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600200" cy="16002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1D9B7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829533-06F6-4841-B18D-C888A954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5146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198458-4637-4851-8CA1-9013C28E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670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119B4F-5A9A-4DB9-8770-DABA1165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5433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相手が開けるか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確かめる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1CB7DF-0A0A-4FD6-86B3-C6B82377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11125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以下の操作を、手順に沿って実行できる状態を目標とします。</a:t>
            </a:r>
          </a:p>
        </p:txBody>
      </p:sp>
    </p:spTree>
    <p:extLst>
      <p:ext uri="{BB962C8B-B14F-4D97-AF65-F5344CB8AC3E}">
        <p14:creationId xmlns:p14="http://schemas.microsoft.com/office/powerpoint/2010/main" val="6315460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1B2BA0-2AC5-45F7-AA15-0F06E32C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897D2B-5128-42E1-B377-584D20FD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PCの基本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E922F-B189-4007-A79E-49297DF1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パソコンを構成する3つの主要要素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69821-FAFF-4D72-8A59-2CE68AC4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89AC3-504F-4713-BEB3-2597F7ED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467A5-AD63-47C9-AA69-D468A000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16C367-86C8-4C79-9FDA-8F196B95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33718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1102D-7F2C-4CCF-8914-08127F84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ECE2E8-FD8C-47D7-B97A-F5C5529A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EDE53-387B-44B4-8D61-98F3C431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717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CPU｜処理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D4C95A-378C-4679-9016-BE6BFBFF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9146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クリックや計算など、指示を順番に処理する。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遅いと：処理待ちが増える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E8DBC-8169-4C4B-9BA8-E8F49B40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962150"/>
            <a:ext cx="33718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1AC091-FCF6-486A-ACCA-7DC478D8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1526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9B72"/>
          </a:solidFill>
          <a:ln xmlns:a="http://schemas.openxmlformats.org/drawingml/2006/main" w="9525">
            <a:solidFill>
              <a:srgbClr val="1D9B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DB5490-08EA-48A3-A87A-02C344B56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2288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87116-F8BC-4FED-BF44-5FDAD44D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1717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メモリ｜一時記憶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192623-0E48-4156-B6D8-9BB1F8D2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743200"/>
            <a:ext cx="29146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いま開いているアプリやデータを一時的に置く。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足りないと：動きが重くなる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32BEFF-EC3F-41C2-BD42-A383E8BC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62150"/>
            <a:ext cx="33718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FF8667-FF58-47FE-854D-E1930BFE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526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485F"/>
          </a:solidFill>
          <a:ln xmlns:a="http://schemas.openxmlformats.org/drawingml/2006/main" w="9525">
            <a:solidFill>
              <a:srgbClr val="D948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A705B2-4CF5-4B3E-A9C6-267EBEE3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288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CE96DC-AA57-498D-81B4-6FFB8D45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717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ストレージ｜保存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91AB0C-3921-4A59-BE58-51B4F1DD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43200"/>
            <a:ext cx="29146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ファイルを閉じても残しておく場所。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足りないと：保存できない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871D33-F0E8-4ACB-BC83-2B6AA3D3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0600"/>
            <a:ext cx="111252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4CC"/>
          </a:solidFill>
          <a:ln xmlns:a="http://schemas.openxmlformats.org/drawingml/2006/main" w="9525">
            <a:solidFill>
              <a:srgbClr val="FFF4C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2017D3-D5C2-4B13-A4BF-C120B4E8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1062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メモリとストレージ（保存容量）は役割が異なります。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17567208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7BC014-9031-4BDE-8E76-227CC4C0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8A42E-53C8-4672-BA0F-979134D8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PCの基本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C77E86-9D8A-4C4C-87BF-FD8E9F78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OSとアプリケーションの役割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2A3645-BD6D-4483-8939-3AFF0F7F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7B5912-3A89-460A-A618-B4D6F355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C8386-9C64-4C9D-8A49-C188B328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465AC7-1B8A-4A0D-8E93-4C9CF07B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11125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D9D3C6-66A0-4784-ACF3-64069CEF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22B7B5-00FB-4717-B1BE-7B439C27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00275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パソコン全体を動かす土台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B8AFF-4728-417B-80FB-29F17222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2288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Windows / macOS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C33F2A-F186-4F59-AAE1-FFF1D0A3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111252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CFFE3D-297D-4C51-8D44-0744C7CE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123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rPr>
              <a:t>アプリ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63DA5-1E6F-4C38-9D82-9CE161C1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00450"/>
            <a:ext cx="26289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561889-9A80-4562-992C-BA1FFA35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217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文書を作る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93AD5F-6DD7-4431-AA5A-8480EB8A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862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Word / Googleドキュメント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B9BCD5-830E-4419-BF6A-AA1DB09F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600450"/>
            <a:ext cx="26289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D9D130-9C65-40F6-9216-2B32E6A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10000"/>
            <a:ext cx="217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表を作る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F28852-065A-43AE-8075-F795448E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2862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3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Excel / Googleスプレッドシート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0C1C6A-68F9-476C-B8CE-BA15878E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00450"/>
            <a:ext cx="30861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860DC8-AEB3-4D4A-82EB-4D8AB983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Webを見る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E65855-0BB5-4B1B-A8B9-74A01D12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Chrome / Edge / Safari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49195C-2D47-4612-A3D3-7DE0A5F3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112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不具合発生時は、OSとアプリケーションのどちらに起因するかを確認します。</a:t>
            </a:r>
          </a:p>
        </p:txBody>
      </p:sp>
    </p:spTree>
    <p:extLst>
      <p:ext uri="{BB962C8B-B14F-4D97-AF65-F5344CB8AC3E}">
        <p14:creationId xmlns:p14="http://schemas.microsoft.com/office/powerpoint/2010/main" val="1328487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B7D12E-02B2-49FF-B849-9EE58619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2954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0B50A-34FA-48C1-853E-357AA5C9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Webの基本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644FD5-AF3C-4DD8-B4B8-62DA169C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ブラウザ・検索・URLの違い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D8B62-FB52-4106-BC4E-5A126453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15298-4C52-42F5-9131-1D8ED9C5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615B1-6FAF-4879-88BF-672E4DDF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4FDB07-D6F7-4DCF-8342-990119A2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3143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17BAB5-FFF1-4385-BEC5-879B9B62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1 ブラウザを開く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9E0E4-A931-4D45-AA45-8E96E040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686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Webを見るためのアプリ。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例：Chrome / Edge / Safari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133645-1977-464E-AE2B-13EA8089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686050"/>
            <a:ext cx="5334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FC2CCB-5318-45D2-9792-3CF28F7B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3143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D24DA2-7F07-4948-B246-1A433F80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2 行き先を指定する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4F5BCE-0030-4B03-BCF6-1A35CE33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2686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URLが分かる → 上の欄に貼る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分からない → 検索語を入れる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031374-E610-44F5-9E47-CAD73FC4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86050"/>
            <a:ext cx="5334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E8D11F-2017-4BC0-92FA-02CA89F3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85950"/>
            <a:ext cx="33147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E8F7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5ABE55-AF4D-473D-86CA-DE515CEF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955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3 ページを見る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618C91-124D-46D2-A16D-B194121F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検索結果から選ぶか、URLのページへ直接移動する。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CE2806-3A08-4CF9-A4CE-5180248C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11252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4CC"/>
          </a:solidFill>
          <a:ln xmlns:a="http://schemas.openxmlformats.org/drawingml/2006/main" w="9525">
            <a:solidFill>
              <a:srgbClr val="FFF4C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6F7D7A-C90C-4AA1-A6E9-B207E613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URL：Webページの所在地　／　検索語：目的のページを探すための語句</a:t>
            </a:r>
          </a:p>
        </p:txBody>
      </p:sp>
    </p:spTree>
    <p:extLst>
      <p:ext uri="{BB962C8B-B14F-4D97-AF65-F5344CB8AC3E}">
        <p14:creationId xmlns:p14="http://schemas.microsoft.com/office/powerpoint/2010/main" val="7402243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855C82-AE21-437D-A081-45F808B2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466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BF23D-68D1-4016-9320-2C2983AB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基本操作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A29471-69D2-4DEB-9467-B9C628A6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使用頻度の高いショートカット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F0FE9-5C5F-4E28-ACA6-A0446961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C27D0-4302-41CB-84AA-5C8EBC21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5F3A7B-9A73-434A-8755-BE01E7A2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1F87E-BCA3-483E-A1FF-0FC27251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5181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756FD-42FE-490F-B052-DF1B8D04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コピー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125E05-8323-4F4D-83D9-D270FEC4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002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B24656-0C33-49B5-83E6-0E5F18D1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47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Ctrl / ⌘ + 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12AEE6-C3A6-491F-824C-31FF4CCB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468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元を残して複製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9632A1-AA27-4589-9A21-8C3D9333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5181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83C36-5223-4B50-BD55-B96EDC90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193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貼り付け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38C7DE-08D0-4338-B068-9DB47785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002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E882A0-3624-4CA3-BD09-88336BDB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47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Ctrl / ⌘ + 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C5EDD2-5DE3-42E4-915A-4DE9D27D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90800"/>
            <a:ext cx="468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コピーしたものを置く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ED6BE9-01BC-46DF-8636-55B521B0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0"/>
            <a:ext cx="5181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DE97B8-AB0E-40EE-8288-D5FC807D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290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元に戻す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C71F7B-AA4E-4971-9340-69D82ACD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1000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C779A2-8E7C-4BE0-9071-C10059CA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5762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rPr>
              <a:t>Ctrl / ⌘ + Z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9EA9CB-DEF2-4735-B764-4FEFD8BD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00550"/>
            <a:ext cx="468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直前の操作を取り消す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817B90-B1ED-44FB-B036-7997769D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5181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42EB06-58A4-41F9-88F4-8F29149E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290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検索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31C093-01FA-4148-8B05-47B73349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1000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98F1A2-91BA-4E60-B47C-039B2565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5762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Ctrl / ⌘ + 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695576-8144-4CEF-8C27-77C2E17D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00550"/>
            <a:ext cx="468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ページや文書の中を探す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BCF78D-6BE1-43C2-901F-2B806224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Windowsは Ctrl、Macは ⌘（command）を使います。</a:t>
            </a:r>
          </a:p>
        </p:txBody>
      </p:sp>
    </p:spTree>
    <p:extLst>
      <p:ext uri="{BB962C8B-B14F-4D97-AF65-F5344CB8AC3E}">
        <p14:creationId xmlns:p14="http://schemas.microsoft.com/office/powerpoint/2010/main" val="13640248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AF6CD1-9656-4772-A34E-5DEACEAB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FE91F-C414-43BF-8BA5-3CE83B1B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操作演習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7CA703-6A0D-47CC-AE8A-04F124FA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コピー・貼り付け・元に戻す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E79B1E-B0C5-4518-8E36-A9908B6E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CACB85-6D01-4329-8F1B-3BA014D2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D30F5-3217-4BB1-867B-2FC12159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7C444-F5D8-4D08-AC51-D8D0FCE9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337185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B38C54-7C30-4D5A-B624-B4146F9D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D59D0-25E6-4688-A8E4-93A7E97F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98759-FE33-406A-9FB7-F4676D8B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574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文字を選択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4CCE6E-52EF-48C2-88B2-B478F121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29146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この文章から『VEXUM』をドラッグして選びます。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7F61C8-E289-4C91-807D-72C9914B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847850"/>
            <a:ext cx="337185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CB38D-067F-491F-B4B9-A6833634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0383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812A10-6931-4EF8-ADBC-3D274607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1145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B0636-F12B-4C9D-ABF5-72B7ED28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0574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コピーして貼り付け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4D4392-315B-4208-88BD-0E382787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28900"/>
            <a:ext cx="29146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Ctrl / ⌘ + C → Ctrl / ⌘ + V を押します。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40CEDE-F69F-44CF-A8EC-E6E2C4BC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47850"/>
            <a:ext cx="337185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BA14FF-F488-42CB-A04A-1EFED8AA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383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29AFA4-BA41-4597-9B4F-8F1A4A45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145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0FFFBA-9FD3-417F-9A88-8F0D8077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574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操作を元に戻す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969441-D609-4EDA-ADCC-3ECFBC7F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28900"/>
            <a:ext cx="29146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貼り付けを取り消すために Ctrl / ⌘ + Z。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A8B3F-506E-465E-814B-B12E6CE2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11252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E8F7F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D457A4-EBE7-4A5F-8BDB-F5D00BAB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10706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rPr>
              <a:t>確認：元の文字が残り、同じ文字が1つ追加されていること</a:t>
            </a:r>
          </a:p>
        </p:txBody>
      </p:sp>
    </p:spTree>
    <p:extLst>
      <p:ext uri="{BB962C8B-B14F-4D97-AF65-F5344CB8AC3E}">
        <p14:creationId xmlns:p14="http://schemas.microsoft.com/office/powerpoint/2010/main" val="358911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AB94B0-5667-4F3F-83C8-341B4C6A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2954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B45FA-0A5D-4812-9398-11DD645A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ファイル管理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8C6ADE-0C42-4B8E-A9C6-86FCB1B1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ファイルとフォルダの違い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A695CE-F37F-4E78-BB29-A62E5908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501C94-527F-47A5-A051-98C22AC0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5314F3-8C0E-430D-A528-9B79C7E1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0A6239-826E-4AC3-B438-178368FF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4762500" cy="3219450"/>
          </a:xfrm>
          <a:prstGeom xmlns:a="http://schemas.openxmlformats.org/drawingml/2006/main" prst="roundRect">
            <a:avLst>
              <a:gd name="adj" fmla="val 4734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4D21B-E19D-4336-B8DC-F2718822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フォルダ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D6629-7F36-44E9-8535-800E059E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37147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2C5B47-F4DA-41F9-A8CD-F95634D6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2895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研修資料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913E6-DFCB-4553-96EA-8B674CB0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623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□  IT基礎講座.pptx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□  参加者一覧.xlsx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0609B-ADBC-41FA-BCD6-A058ACCA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47850"/>
            <a:ext cx="5829300" cy="3219450"/>
          </a:xfrm>
          <a:prstGeom xmlns:a="http://schemas.openxmlformats.org/drawingml/2006/main" prst="roundRect">
            <a:avLst>
              <a:gd name="adj" fmla="val 473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05C8AF-F105-48F9-B6A4-399645AD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5257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ファイル管理の基本ルール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708C2-A7F9-454F-A700-4D1FD1A5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504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1. 何の仕事かでフォルダを分ける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2. ファイルは決めた場所に戻す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3. デスクトップに置きっぱなしにしない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100D00-386A-4623-BF13-D1DFF911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0"/>
            <a:ext cx="1112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保存場所を統一することで、担当者以外もファイルを検索できます。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18622772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4160FC-6AF2-4673-A6AF-EEB0A740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2954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5F89B1-C7A1-4C70-8161-1E457499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ファイル管理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977566-A08A-4AB5-98CC-7C169E02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ファイル名の付け方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76FE4-4CCC-4B2E-8A10-CC11A734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842F2-57E1-41BC-9F15-8690503A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8BDB0-AE55-4080-9847-FB3B631E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727D77-73CA-4E3A-A9AF-11C48E3E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rPr>
              <a:t>悪い例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9A8785-8736-411E-B343-89176C8A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4953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FCEC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73D135-5E05-4C76-9435-037FB33F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4457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rPr>
              <a:t>最終版2_修正_new.pptx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EEFAE7-942C-4CD5-B3C1-FAC3C18C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859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rPr>
              <a:t>良い例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F2A8D-368C-4ADB-8325-D16DA89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24100"/>
            <a:ext cx="5486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E8F7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714BCB-7016-4F51-8B48-B7F700BD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90800"/>
            <a:ext cx="499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rPr>
              <a:t>2026-09-03_IT基礎講座_v03.pptx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2865D4-1D4F-4D08-A8CF-F3FE6910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111252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145D5D-F196-4203-A53F-28E5CD44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日付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397513-A358-4CC4-BE25-24F2DCF9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9624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内容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C745C5-6546-4432-A57A-0034E061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9624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119E4-F279-4B0A-8A2A-AB80D168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624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拡張子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F3E852-FB3C-44DF-B301-6C2113D5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いつ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F79608-B69A-423C-A670-56E9DE61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386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何の資料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818EA0-FE87-4568-AA02-96F9F1CE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4386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何回目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569AFA-9871-45F9-92B7-5F5C9181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386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種類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4AF6F2-D0F8-4E17-8341-40B97A6A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拡張子（.pptx、.xlsxなど）は変更・削除しないでください。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2945628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3134FA-AA46-444E-A9C8-1E194B93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2954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51C046-5736-4C61-B9A5-4DFA10AE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ファイル管理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AA9DA8-AF9E-498E-BBFC-DB2665D8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基本的なファイル操作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E496B9-FE60-4415-B47D-244FC6BC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3219C-5ED8-492C-B91F-755F5E38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86D0A-9254-4388-8C15-F70BAC15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9D8F57-EAB4-4C2D-84E3-117891BE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51816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CE001-BBB2-4012-879C-E245ACCA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開く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E2892-424D-4481-8651-CB51BF52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中身を見る。場所は変わらない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203A7-99F3-4161-A9B0-C98B0A7B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47850"/>
            <a:ext cx="51816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DC140C-7287-4A42-8BC7-EB5724CC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5740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移動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166AC4-ADDC-4DCC-9998-FF06868B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33650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元の場所から、新しい場所へ移る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CB3A7-2FAB-408C-971F-7A9AA2A4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0450"/>
            <a:ext cx="51816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48F10F-F4AC-4B58-A9AA-D212CD31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コピー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57659A-5198-4054-B930-029A0640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元を残し、同じものが増える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443681-AA38-483E-8259-99CD0A4A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51816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3D6B53-C8EF-4C4F-9A17-6B0595FE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1000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rPr>
              <a:t>削除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BA5E06-E80A-4A59-A555-8190464D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86250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ごみ箱へ移る。共有物は特に注意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76052B-D549-48FD-85AF-D7BA43B4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10200"/>
            <a:ext cx="11125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CC"/>
          </a:solidFill>
          <a:ln xmlns:a="http://schemas.openxmlformats.org/drawingml/2006/main" w="9525">
            <a:solidFill>
              <a:srgbClr val="FFF4C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9D9DC1-8894-41B2-8DF5-ABC8F28C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コピーは元データを残し、移動は保存場所を変更します。</a:t>
            </a:r>
          </a:p>
        </p:txBody>
      </p:sp>
    </p:spTree>
    <p:extLst>
      <p:ext uri="{BB962C8B-B14F-4D97-AF65-F5344CB8AC3E}">
        <p14:creationId xmlns:p14="http://schemas.microsoft.com/office/powerpoint/2010/main" val="18275533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DEF6FD-FEAA-4DA4-93E2-1EF10A8F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B98CA-CBD7-4502-9E15-D639F4F4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保存と形式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65CB1-E363-4539-9940-8AE2B2A1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保存方法とファイル形式の選択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A65E5E-64BA-4F99-9199-5A4AFE22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D53A30-936E-4D20-AF34-D75D39D6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6CD88-B5CF-49C5-AD2E-F706C55D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B369C-F4F5-48B7-880D-5C0CB725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3371850" cy="28765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FC3E3-CAC7-4910-BAD0-7ACCEFED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B09BE-8E8C-48AA-93BC-3DD2921F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6D1FAB-3A71-4AE9-B638-C1CD8D93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3835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上書き保存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4D9F19-77DB-45B7-B443-CDFA5344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29146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同じファイルを更新する。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使う場面：自分が続きを編集する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243D7-A376-4D27-93D3-D1E38C63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828800"/>
            <a:ext cx="3371850" cy="28765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97BFFE-199F-4142-87A7-CD828D95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0193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65F325-2838-4E0D-BA51-C6DDF60A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095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E8893E-7F5B-4C58-A2EB-8D31BEAC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03835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名前を付けて保存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630C8D-7CFD-45F6-892F-DED0EB60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09850"/>
            <a:ext cx="29146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元を残し、別ファイルを作る。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使う場面：版を分けたい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2B4149-C07B-4114-A5AC-2F1F2CEB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28800"/>
            <a:ext cx="3371850" cy="28765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A0D347-3FD9-458E-B4BC-091D7B93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193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9B72"/>
          </a:solidFill>
          <a:ln xmlns:a="http://schemas.openxmlformats.org/drawingml/2006/main" w="9525">
            <a:solidFill>
              <a:srgbClr val="1D9B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614DBC-CE1F-47C1-BC0D-34255FD4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95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FE3FAC-D394-4242-89ED-CA439AE9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3835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PDFにする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A045F5-65BE-4594-9160-9730B9D0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09850"/>
            <a:ext cx="29146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見た目を保ったまま渡す。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使う場面：閲覧用に渡す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048522-B086-4D44-A45B-0282733F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1112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選択基準：元データを残す必要性／共有先での編集要否</a:t>
            </a:r>
          </a:p>
        </p:txBody>
      </p:sp>
    </p:spTree>
    <p:extLst>
      <p:ext uri="{BB962C8B-B14F-4D97-AF65-F5344CB8AC3E}">
        <p14:creationId xmlns:p14="http://schemas.microsoft.com/office/powerpoint/2010/main" val="3454440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A954B6-F213-4816-B694-BF048D0B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72D8D-B4EA-4BF6-BF85-0E0EAD91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クラウド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DB8187-4732-4EAB-B4EA-1BECD009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ローカル保存とクラウド保存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5B954-B9C4-4B77-987B-CE7218B1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89127-7A08-45AE-AA81-4E2E6472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DCCC1-799E-4260-99B5-EC08086D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75DAC-F062-47E4-9AEC-51CCF91A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476250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2020AF-255E-4003-8B6B-B83C2902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このパソコンだけ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0D0F29-9A0A-4DB0-AC88-0C3AD6D2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ローカル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945EE-C25E-4A56-8CA4-6B029442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62350"/>
            <a:ext cx="3924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別の端末からは、そのままでは見えない。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端末が壊れると失う可能性がある。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C82234-F1ED-40DA-AF6A-BCB47DB9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85950"/>
            <a:ext cx="529590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A02C0B-8609-4A57-8CDE-D5954DF1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52650"/>
            <a:ext cx="472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インターネット上の保管場所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F3954-A97A-4E5C-AD0C-5B607944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24150"/>
            <a:ext cx="472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クラウド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4EF03E-6AAA-4E94-9DBE-F84A69F9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62350"/>
            <a:ext cx="4457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権限があれば別の端末からも開ける。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共有や共同編集がしやすい。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B9F1C3-B1B0-4B23-8C86-675A7C01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111252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4CC"/>
          </a:solidFill>
          <a:ln xmlns:a="http://schemas.openxmlformats.org/drawingml/2006/main" w="9525">
            <a:solidFill>
              <a:srgbClr val="FFF4C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03D74-696A-45B0-8B58-7B6562AE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1070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ブラウザ上で操作している場合も、ファイルの保存先を確認してください。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994160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B5BC12-95B9-4414-8B2B-E5BE72A1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04240-3371-4CAD-9A55-2599121B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クラウド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F9AF5-73BF-4109-918A-90CFCF13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アップロードとダウンロードの違い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4DB0A3-77E2-459D-9943-58DEF172A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151B6-1685-4AA9-9BC1-FEB04BBF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FB58C2-B53F-4139-8899-760D7428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1207FC-CEC4-4094-87DB-5B24A525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33909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E8F25-64B2-4626-9224-1847AC64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自分の端末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90B02B-5685-4FC9-B50A-A1BFA70F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ファイル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40D1B8-70AC-4B76-ADDD-5875E736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38350"/>
            <a:ext cx="33909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69E4E-F971-496E-8568-0F4F17CF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クラウド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756BFA-DDA0-4743-9652-ED4D815D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12420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共有の保管場所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2B56F-6CE6-4A8D-B5B4-CA95C690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24100"/>
            <a:ext cx="3886200" cy="685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2DFEFF-C4B0-43F9-A262-046F1E0E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アップロード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DED73A-A10F-4882-82D1-C13DB272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409950"/>
            <a:ext cx="3886200" cy="6858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D9B72"/>
          </a:solidFill>
          <a:ln xmlns:a="http://schemas.openxmlformats.org/drawingml/2006/main" w="9525">
            <a:solidFill>
              <a:srgbClr val="1D9B7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48FE66-3CBD-4EAE-8E37-DA05117C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6235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ダウンロード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819F29-15C5-4FB3-A5CA-C974A128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67300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操作後は、ファイルの保存先を確認してください。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6838709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C73F09-F8E8-452C-AD55-A171DB0D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504FDA-CC82-40A6-8D7C-D4AA3964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クラウド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8C245-AB67-4FF3-8C36-CCF642B0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同期とバックアップの違い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966E6-EFBB-457E-B330-4C5F9A9C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5D00BD-151E-4687-B1B2-277BD28B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C058AA-192A-45D0-BAF0-AD188C52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634BE0-C85A-48AD-ABCC-4B644864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51054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4AB35B-D77D-4D30-8F21-70F7F6F2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同期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862FE-28FB-4A6E-B384-C9549A5B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4648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複数の端末を同じ状態にそろえる。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1台で削除すると、他の端末でも消えることがある。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B8AAD-1539-40F3-9E2F-B7391A46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47850"/>
            <a:ext cx="51054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E8F7F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1EB0D-1622-4F25-8A46-0B5BAED8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5740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バックアップ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F734B-6FD0-4A53-A50A-E1EA00D8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33650"/>
            <a:ext cx="4648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元データとは別に、復旧用のコピーを保管する。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誤削除や故障から戻すために使う。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671BA-E21A-4E01-896D-200D2B5E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11125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FCEC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AE056B-2422-47D7-A97F-D10D25E6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rPr>
              <a:t>重要データは、同期とは別にバックアップを取得します。</a:t>
            </a:r>
          </a:p>
        </p:txBody>
      </p:sp>
    </p:spTree>
    <p:extLst>
      <p:ext uri="{BB962C8B-B14F-4D97-AF65-F5344CB8AC3E}">
        <p14:creationId xmlns:p14="http://schemas.microsoft.com/office/powerpoint/2010/main" val="210736671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7349A9-F2B8-4ADE-A3A1-9C00092A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8A225-1B8F-496F-BF8C-18468C7E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アカウント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9165EA-F6F6-4ECE-A21E-B3A55AB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利用アカウントの確認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6B6F3-80AA-45A1-BC4E-7687860C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2A693-6422-4C1F-8D01-73031636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3917FC-08DA-47A9-81E6-265131A7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92F13-3B9C-4C3B-B644-6FC2CAF7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11252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1F89E4-C739-4401-A3B8-1CD492E8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62175"/>
            <a:ext cx="1062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同じサービスでも、アカウントが違えば見えるファイルや権限が変わります。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66C317-91C2-4D92-B3D5-2181DE39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33718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69085-F881-445F-BE2B-C7E3BB8F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C92A5D-5DCC-40AD-8019-CFFCA05E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E2717C-B52B-46F7-8BFD-EAEAD01F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433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メールアドレスを見る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E88C0A-B929-4F75-9428-5D0B8DB4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914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会社用か、個人用かを確認。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57548-BD47-4470-AB8C-858E417A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333750"/>
            <a:ext cx="33718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6C572-7135-43B8-8085-ECB13136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5242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03541B-FE8D-453A-89E9-75810246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004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A2D158-B544-43EB-9BFE-22833F08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5433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対象を確認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7A3FA7-07F5-4820-977D-FE339DDD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114800"/>
            <a:ext cx="2914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会社・クライアント・学校など、目的と一致しているか。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BA646-907F-461E-AC90-425E5E7D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33750"/>
            <a:ext cx="33718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A46BE0-43BC-4FAB-BBDB-C622B60A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9B72"/>
          </a:solidFill>
          <a:ln xmlns:a="http://schemas.openxmlformats.org/drawingml/2006/main" w="9525">
            <a:solidFill>
              <a:srgbClr val="1D9B7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40A6A2-0C07-4106-9F2A-5F29A799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004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A6BDF3-79E8-4D1D-B327-4138472B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433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利用後にログアウト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D410AA-EE16-4B01-9608-993B75CE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14800"/>
            <a:ext cx="2914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共用端末では必ず終了する。</a:t>
            </a:r>
          </a:p>
        </p:txBody>
      </p:sp>
    </p:spTree>
    <p:extLst>
      <p:ext uri="{BB962C8B-B14F-4D97-AF65-F5344CB8AC3E}">
        <p14:creationId xmlns:p14="http://schemas.microsoft.com/office/powerpoint/2010/main" val="133873670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D63605-EBBA-49D1-98C6-5073F25F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902FE-6624-4A19-9828-CC5F6F40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アカウント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15FE2-22BA-4C2C-9D76-65DB01A1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パスワードと2段階認証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8FDC7-BB76-40E9-A571-E66FE1EA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164CE-B555-4F43-99A8-DDD6CFA2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65EDDD-0E85-4FF1-9CC2-2F6DEB59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660A9A-57E9-4AA9-9C1A-47312098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33718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3346B5-C5B8-474B-8EC5-9C2C581F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FF781-6897-4192-9075-A8FD6817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942E46-3FD5-4B4D-A55A-9CFC7B53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574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長くする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CC123F-A6EF-4595-8033-423AA609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29146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短い単語1つではなく、推測されにくい長さにする。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5BAC63-4C26-4414-8180-196C436D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847850"/>
            <a:ext cx="33718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B94B6-2DDB-4DAD-BAF3-3415F5FC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0383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EC2A0D-2FDC-4312-897A-E7216996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1145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49BF02-9391-41CF-B01B-2E363D34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0574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使い回さない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E257D5-9CBD-4ED8-A20E-3B8126C8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28900"/>
            <a:ext cx="29146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1つ漏れても、別サービスまで入られないようにする。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5C3E56-C1DE-4290-8BA2-931C0962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47850"/>
            <a:ext cx="33718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3BA9A6-F081-466E-8B8A-5ED0980C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383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9B72"/>
          </a:solidFill>
          <a:ln xmlns:a="http://schemas.openxmlformats.org/drawingml/2006/main" w="9525">
            <a:solidFill>
              <a:srgbClr val="1D9B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653E32-29F7-4019-A478-D1EF7A78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145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4F4687-1BCA-4838-BFAC-F4FC2EF5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5740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2段階認証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FB5FA7-06D5-4875-A8CF-13A8A55A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28900"/>
            <a:ext cx="29146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パスワードに加え、別の確認を行う。必ず有効にする。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6C0CB-32AF-4460-8204-4126BA8D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111252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CC"/>
          </a:solidFill>
          <a:ln xmlns:a="http://schemas.openxmlformats.org/drawingml/2006/main" w="9525">
            <a:solidFill>
              <a:srgbClr val="FFF4C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BB4C36-A2AD-44AF-A772-DBAF31D1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2445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認証コードおよびパスワードは、第三者と共有しないでください。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38980400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C9E930-AF4E-48ED-B69C-41C47566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F1D49-A305-412C-982D-D63A7C77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業務ツール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6C21D9-6E58-47CE-9734-1D0EB035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目的に応じたツールの選択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7DD10-1470-4C6A-989D-4ADE5DA0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EF2BA-93FF-44A2-AD1E-F331DADB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4DD1D6-1538-4584-A2A7-664531EF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F92987-7417-4B70-B00F-8A3502FF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51816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7BBC7-F676-4957-A159-3C2D8A2D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文章を作る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65BD8B-0FBA-4243-BAF6-DE9A00EB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4724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Word / Googleドキュメント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ABBC06-AEA5-431F-9D59-45DCB642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51816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DBDDD5-D3EC-49E7-857E-26597ED2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1930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表・計算をする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10A19-21E8-4AE2-8B3D-9D845FE6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4724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Excel / Googleスプレッドシート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0BAAD2-3985-4E3D-95BF-A7301B82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0450"/>
            <a:ext cx="51816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101A32-0BCC-4335-97EC-0B4F6784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説明資料を作る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E470E6-C70A-4806-B21B-107FC84F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24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PowerPoint / Googleスライド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97454B-376C-4B38-8202-33E98ACB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51816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4D5E0A-F5D6-4F1A-A6EE-F5F7ABC9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1000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ファイルを保管・共有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0CEBF5-9E05-4CFE-B3E2-8C93E897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86250"/>
            <a:ext cx="4724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OneDrive / Googleドライブ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79FA71-2373-495E-A06B-7BBBA80A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0"/>
            <a:ext cx="11125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E8F7F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426A35-DF55-4EC8-9699-4DB73A77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1074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D9B72"/>
                </a:solidFill>
                <a:latin typeface="Helvetica Neue"/>
                <a:ea typeface="Helvetica Neue"/>
                <a:cs typeface="Helvetica Neue"/>
              </a:rPr>
              <a:t>利用するツールは、会社または取引先の指定に従ってください。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4389157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DD3A70-47C9-4433-A12C-D8F9E25A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2D52BC-5FC0-4837-ABD9-D3C38B48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共有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B821E-4327-41C1-9170-53A1F70C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添付ファイルと共有リンクの使い分け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8F337-F170-4325-A399-EDDA86D5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CF0347-9EA6-49AA-880F-5736B0D7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F837D6-FFEF-426F-A333-A69A893E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C16EE-56E4-4734-A8B9-6F1B16A9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510540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C07720-C778-4C0B-9427-C97E7DA7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添付ファイル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193AA-EE6E-499D-BAEB-F57B50FD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4648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その時点のコピーを相手に渡す。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向いている：完成版を固定して渡す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注意：更新しても相手のコピーは変わらない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49CFD4-27A9-400C-9EE1-E5BDEF09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5105400" cy="270510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B6DF28-77CA-41F4-AF28-ED61946C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1930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共有リンク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595A5-CCC9-43C7-BE87-63FA3841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95550"/>
            <a:ext cx="4648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クラウド上の同じファイルを見てもらう。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向いている：共同編集・最新版の共有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注意：閲覧／編集の権限を確認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FDD63E-F9E4-4546-8944-083A3BE9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111252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4CC"/>
          </a:solidFill>
          <a:ln xmlns:a="http://schemas.openxmlformats.org/drawingml/2006/main" w="9525">
            <a:solidFill>
              <a:srgbClr val="FFF4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466C87-FF98-4699-BDCE-D2C473D3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送信前確認項目：宛先／ファイル／共有権限</a:t>
            </a:r>
          </a:p>
        </p:txBody>
      </p:sp>
    </p:spTree>
    <p:extLst>
      <p:ext uri="{BB962C8B-B14F-4D97-AF65-F5344CB8AC3E}">
        <p14:creationId xmlns:p14="http://schemas.microsoft.com/office/powerpoint/2010/main" val="5344822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38BEF9-99F1-4853-8E12-C586A565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ACE2EE-3535-4119-9B6F-0BA7C078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情報とAI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0E925-9E15-497D-B21F-3FDAC4F09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生成AIの出力内容は検証が必要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443FD-9DBB-4DA5-BC48-D17525DA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B5E240-CB1D-491A-BB41-A4E0927D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A397E7-C674-4251-8DBD-7FB87D1E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668C2-EFCA-44C9-9F13-84AD7F2B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33528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3A7FB-B5ED-448E-ABA0-93F9D157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1 目的・条件を明示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602392-0F41-47D7-BB60-3E538ED3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28956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何を作りたいか、条件は何かを具体的に書く。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50A32-DD8C-47F4-B965-9BD9223E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24050"/>
            <a:ext cx="33528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701D9-D2DF-43CD-A3CF-71D0463B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336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2 出力内容を検証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33BE99-4655-4A59-B82D-983F903F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09850"/>
            <a:ext cx="28956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公式情報や元データと比べる。数字・固有名詞を特に確認。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1F7BD6-CC10-4A32-AA67-8BCFDD7F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24050"/>
            <a:ext cx="33528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058C3B-B439-4396-81D5-91E1FE59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rPr>
              <a:t>3 機密情報を入力しない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1ADF8D-17F9-46BF-96BD-700B6980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09850"/>
            <a:ext cx="28956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個人用・無料AIに、会社やクライアントの情報を入力しない。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425C2-11DD-4534-8FE5-499EE2AB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48250"/>
            <a:ext cx="11125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A892C8-0447-45BB-9071-29093DB4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業務では、会社・クライアントが指定したAIとクラウドだけを使います。</a:t>
            </a:r>
          </a:p>
        </p:txBody>
      </p:sp>
    </p:spTree>
    <p:extLst>
      <p:ext uri="{BB962C8B-B14F-4D97-AF65-F5344CB8AC3E}">
        <p14:creationId xmlns:p14="http://schemas.microsoft.com/office/powerpoint/2010/main" val="121383705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571A46-5FDE-4192-9AD0-BBB20703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26BAF4-C550-452E-AED9-880FC37A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安全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7F448-4AAF-4CB6-9DAB-6B12262B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不審な連絡を受けた場合の対応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07E72-5480-409A-923D-00DF7851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A3EDE-E3F3-4CD2-BDE1-C660479A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5E4CE-B636-4C6A-9A40-18D0E8A8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444B7-1292-48DB-B7B5-17707B1D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71650"/>
            <a:ext cx="111252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FCEC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00034-6A0F-4D17-9E22-199E7F11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1059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rPr>
              <a:t>不審な連絡の例：短時間での再認証や情報入力を要求する通知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1E4407-52BF-4243-9FC0-C21C8D0F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52800"/>
            <a:ext cx="33718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4F84B-9732-4D8C-9D0C-AA195781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485F"/>
          </a:solidFill>
          <a:ln xmlns:a="http://schemas.openxmlformats.org/drawingml/2006/main" w="9525">
            <a:solidFill>
              <a:srgbClr val="D948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0CF309-92F5-4A2B-9782-1AC86408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5FF529-20C1-469D-9C7B-4D84A917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6235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操作を中断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D0F7E6-0D4B-4172-834C-139ACBC4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2914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リンクを押す前に、急がせる理由を疑う。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3A8578-3C58-42BE-9A64-87734E64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352800"/>
            <a:ext cx="33718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8911A-AA54-4D7C-807F-A58CD34C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5433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94007B-EA7A-4738-A1F7-49F66F96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19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C8177C-D0C0-4606-81EE-FD497C92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56235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確認する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869364-3FFA-487E-BD0B-3D2F7897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133850"/>
            <a:ext cx="2914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差出人、URL、文面、不自然な添付を確認。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F5E457-1A2B-4FD0-BF6A-64E9D86E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52800"/>
            <a:ext cx="33718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7BA72C-313B-4C75-9B2B-984B7049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433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9B72"/>
          </a:solidFill>
          <a:ln xmlns:a="http://schemas.openxmlformats.org/drawingml/2006/main" w="9525">
            <a:solidFill>
              <a:srgbClr val="1D9B7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4EE22-F70D-4048-ACD4-57EA22F1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19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85E0EB-4FAA-4DD8-9E0E-C540F105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62350"/>
            <a:ext cx="2419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別経路で聞く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A11EFC-9BAB-45DA-BAEF-7F8E125F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33850"/>
            <a:ext cx="2914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本人や担当者へ、いつもの連絡方法で確認。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88C771-7841-418C-A4C3-68FB2AB7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4355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不審な点がある場合は、操作を行わず担当者へ報告してください。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79963492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181C1B-0F27-4761-886F-608DDD4C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2954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337E7-1A1E-455F-99CF-12BF42D9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トラブル対応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868F6-FD0F-47F2-B43F-E0AC903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トラブル発生時の確認手順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AF6368-635A-4666-BFB0-A4794593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2ED32-5265-46DA-9146-AFE23538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87905-37B1-4E88-9CC7-BF8B7898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04431-720E-4398-9A54-A5F4A771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9DAF84-7750-417B-9B0A-BE01251F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C2F86F-F134-4B8B-ADC7-702695F4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984EB9-D0D8-46D9-98C1-926221CE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85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F0893-7CE0-4ADD-B4EB-A38E616C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581400"/>
            <a:ext cx="1314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表示やエラーを読む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7BF782-8CA8-4148-9486-E4F7DA45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72415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4CBE2-FBE1-4CC3-8664-A78C5FEE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479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0CCC95-0474-462D-A9CA-6AE7A801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095500"/>
            <a:ext cx="85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取消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066315-CE2A-4ACF-96DC-5D5BDF5F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581400"/>
            <a:ext cx="1314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Ctrl / ⌘ + 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F4BAC6-CD60-4D04-8725-E7D99F74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2415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4C51CF-51C9-4B4F-A1B0-E6436ECE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479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370D5C-F168-4690-8C70-615D0905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95500"/>
            <a:ext cx="85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保存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D22E6F-F886-40C7-895E-7128BBB8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81400"/>
            <a:ext cx="1314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作業中データを守る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A82FDE-52B7-4E78-8749-2B1B17B0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72415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3374DE-069A-419D-94E3-DB868CC7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479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DA789C-C22C-493D-8159-4708B0A8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95500"/>
            <a:ext cx="85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再起動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E6D9C4-F2BB-45B7-8585-0D762EB6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81400"/>
            <a:ext cx="1314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アプリ → 端末の順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AD492-2E91-4314-BF25-16015F65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2415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9B72"/>
          </a:solidFill>
          <a:ln xmlns:a="http://schemas.openxmlformats.org/drawingml/2006/main" w="9525">
            <a:solidFill>
              <a:srgbClr val="1D9B7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7435AB-56DB-4EC7-AA55-2CAFE3FC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479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A91B4F-9EA4-46D3-AED4-4012C78D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95500"/>
            <a:ext cx="85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報告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84E761-A399-483E-B3CC-A3683AAC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81400"/>
            <a:ext cx="1314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画面・操作・時刻を伝える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DDD034-F348-443F-BCF5-C8DF0593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111252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4CC"/>
          </a:solidFill>
          <a:ln xmlns:a="http://schemas.openxmlformats.org/drawingml/2006/main" w="9525">
            <a:solidFill>
              <a:srgbClr val="FFF4C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1F7A85-2815-4E65-A422-A5C1AD48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53025"/>
            <a:ext cx="10706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報告項目：実施した操作／表示内容／発生日時</a:t>
            </a:r>
          </a:p>
        </p:txBody>
      </p:sp>
    </p:spTree>
    <p:extLst>
      <p:ext uri="{BB962C8B-B14F-4D97-AF65-F5344CB8AC3E}">
        <p14:creationId xmlns:p14="http://schemas.microsoft.com/office/powerpoint/2010/main" val="24699745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140597-4D27-4BB2-BDA6-A91815A4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FB7B2-C461-4487-A1FF-DFEC0119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246BFD"/>
                </a:solidFill>
                <a:latin typeface="Helvetica Neue"/>
                <a:ea typeface="Helvetica Neue"/>
                <a:cs typeface="Helvetica Neue"/>
              </a:rPr>
              <a:t>総合練習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61DCD-5312-4D8E-8B19-01FDDCB2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1112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実技課題：ファイルの作成・保存・共有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91B87-9848-4481-855A-06AA9A4A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05186-DA0C-4F9B-88CB-B1F6F72E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ITリテラシー基礎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EAFAB-9146-407B-A4B5-49C30FBB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2F544-3DDC-4E06-9341-812954E7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33528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6D3F7-F91E-4A32-95E1-F2E99708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8AC0E-29C6-4C6F-8F57-E60D7A5A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B87317-F006-487B-9F94-E8EBC6B7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19300"/>
            <a:ext cx="240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指定フォルダを作る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345AB-40A6-4CD9-B9A4-BA2CF161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確認：場所が正しい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07FFB7-C132-4C85-BD49-1558F926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09750"/>
            <a:ext cx="33528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55AE37-9B48-49BE-9A33-6FD27B46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002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EF33C-2EB2-4870-8FAE-6B66404E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764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3B8CD1-7236-4511-97D4-A697E41E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019300"/>
            <a:ext cx="240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文書を作成・保存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CDCA8A-CEDE-4FEB-BAB2-7FD8BBC8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908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確認：名前と拡張子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29A237-8AA2-403F-AE1D-9ACB4DE0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33528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74DE2-8D02-493F-A5D8-E43B0B70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0025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FD15CB-F006-4B82-871A-8520FA9B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4EEC4C-81FA-425B-9F79-51F5C2DB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19300"/>
            <a:ext cx="240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PDFも作る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EEB339-1E8B-453B-B947-EF7B0C5A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確認：PDFが開く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7FBEBC-D201-440A-8D2D-DA974E7D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67100"/>
            <a:ext cx="33528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4D3D7E-B294-4E5B-A790-856A52C4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405196-0BC8-4A6D-B829-690378C1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0FF662-19B0-4EC5-8106-123F54F6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76650"/>
            <a:ext cx="240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クラウドへ送る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D3B327-5828-4A11-B1CD-1E5EFD0C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確認：保存先がクラウド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6E6B61-D829-4FC9-AA70-0D1D6FBC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467100"/>
            <a:ext cx="33528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48A0B2-4406-447C-A3E1-84BABC30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576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D1A15B-6A29-4C87-8869-FDAB0599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33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1AA546-2EEC-4AC7-A8DF-B0B5B568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676650"/>
            <a:ext cx="240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閲覧権限で共有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A2D70E-A854-4801-879F-F22B8220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4815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確認：相手と権限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E00F2C-C7A4-429F-9C5A-A00E3F6E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67100"/>
            <a:ext cx="33528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9525">
            <a:solidFill>
              <a:srgbClr val="DDE3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6F4523-C173-457A-A009-6E68BFBC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576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9B72"/>
          </a:solidFill>
          <a:ln xmlns:a="http://schemas.openxmlformats.org/drawingml/2006/main" w="9525">
            <a:solidFill>
              <a:srgbClr val="1D9B7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29B367-AEB6-433D-ADB9-91EF7E99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7EEF1F-494D-4482-99A7-96A6792B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76650"/>
            <a:ext cx="240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相手が開けるか確認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6D71EA-76F6-49BC-8D13-E26E61B6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4815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確認：実際に開ける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08D21-6206-4267-857C-778EF874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B667A"/>
                </a:solidFill>
                <a:latin typeface="Helvetica Neue"/>
                <a:ea typeface="Helvetica Neue"/>
                <a:cs typeface="Helvetica Neue"/>
              </a:rPr>
              <a:t>不明点がある場合は、22ページの確認手順に従ってください。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01465452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420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04CC21-420B-4059-B276-EA6C845F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FD"/>
          </a:solidFill>
          <a:ln xmlns:a="http://schemas.openxmlformats.org/drawingml/2006/main" w="9525">
            <a:solidFill>
              <a:srgbClr val="246BF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BBE5D5-281F-47F1-B794-D35E9DCD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57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まとめ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01215-E238-47D5-97F1-982A8724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666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操作前の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確認事項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0BCB7-013E-42F8-A8D8-DDF40DCB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5905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DCE5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DCE5F5"/>
                </a:solidFill>
                <a:latin typeface="Helvetica Neue"/>
                <a:ea typeface="Helvetica Neue"/>
                <a:cs typeface="Helvetica Neue"/>
              </a:rPr>
              <a:t>1  操作の目的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DCE5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DCE5F5"/>
                </a:solidFill>
                <a:latin typeface="Helvetica Neue"/>
                <a:ea typeface="Helvetica Neue"/>
                <a:cs typeface="Helvetica Neue"/>
              </a:rPr>
              <a:t>2  ファイルの保存場所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DCE5F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DCE5F5"/>
                </a:solidFill>
                <a:latin typeface="Helvetica Neue"/>
                <a:ea typeface="Helvetica Neue"/>
                <a:cs typeface="Helvetica Neue"/>
              </a:rPr>
              <a:t>3  利用中のアカウント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877F9E-0436-4446-9599-6A8A2FDB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19250"/>
            <a:ext cx="34290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7F7CA-650A-433B-84D4-69E82D53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431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rPr>
              <a:t>判断に迷う場合は</a:t>
            </a:r>
          </a:p>
          <a:p xmlns:a="http://schemas.openxmlformats.org/drawingml/2006/main">
            <a:pPr algn="ctr">
              <a:buNone/>
              <a:defRPr sz="255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D9485F"/>
                </a:solidFill>
                <a:latin typeface="Helvetica Neue"/>
                <a:ea typeface="Helvetica Neue"/>
                <a:cs typeface="Helvetica Neue"/>
              </a:rPr>
              <a:t>操作を中断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D403FC-5856-4F31-BB1C-28B42FE64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718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3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9AB08-10B5-4622-B82D-6288B8BC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33800"/>
            <a:ext cx="2781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必要事項を確認後、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42033"/>
                </a:solidFill>
                <a:latin typeface="Helvetica Neue"/>
                <a:ea typeface="Helvetica Neue"/>
                <a:cs typeface="Helvetica Neue"/>
              </a:rPr>
              <a:t>操作を再開してください。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4E8D51-4FFF-4BE1-8A99-66361D2F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FC0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AFC0DA"/>
                </a:solidFill>
                <a:latin typeface="Helvetica Neue"/>
                <a:ea typeface="Helvetica Neue"/>
                <a:cs typeface="Helvetica Neue"/>
              </a:rPr>
              <a:t>VEXUM学園  ITリテラシー基礎講座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CB2FF-6D36-4EA9-98A0-8BC9D199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AFC0D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AFC0DA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9452133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2026-09-03T12:23:08.9220000Z</dcterms:created>
  <dcterms:modified xsi:type="dcterms:W3CDTF">2026-09-03T12:23:08.9220000Z</dcterms:modified>
</coreProperties>
</file>